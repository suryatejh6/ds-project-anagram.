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65" r:id="rId5"/>
    <p:sldId id="266" r:id="rId6"/>
    <p:sldId id="267" r:id="rId7"/>
    <p:sldId id="268" r:id="rId8"/>
    <p:sldId id="269" r:id="rId9"/>
    <p:sldId id="270" r:id="rId10"/>
    <p:sldId id="272" r:id="rId11"/>
    <p:sldId id="274" r:id="rId12"/>
    <p:sldId id="278" r:id="rId13"/>
    <p:sldId id="279" r:id="rId14"/>
    <p:sldId id="280" r:id="rId15"/>
    <p:sldId id="281" r:id="rId16"/>
    <p:sldId id="276" r:id="rId17"/>
    <p:sldId id="282" r:id="rId18"/>
    <p:sldId id="283" r:id="rId19"/>
    <p:sldId id="273" r:id="rId20"/>
    <p:sldId id="26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0BA394-572D-B526-6E69-BEC559BBD5D3}" v="58" dt="2026-05-14T17:51:35.799"/>
    <p1510:client id="{4C4D1F12-E608-C948-90D0-002D26AA4765}" v="363" dt="2026-05-14T17:51:07.488"/>
    <p1510:client id="{AD356B87-DEBA-469E-95D2-7EA087F40AF7}" v="14" dt="2026-05-14T16:42:50.723"/>
    <p1510:client id="{EAC16A65-0B52-6002-4E59-EC093654E3DD}" v="26" dt="2026-05-14T17:18:00.2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267FE-51E2-4C76-861C-0C47B7B77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236ECF-556C-4884-ABEA-0586F21ACD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7F088E-6DCC-4643-B73D-E34C4C88AFF3}"/>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5" name="Footer Placeholder 4">
            <a:extLst>
              <a:ext uri="{FF2B5EF4-FFF2-40B4-BE49-F238E27FC236}">
                <a16:creationId xmlns:a16="http://schemas.microsoft.com/office/drawing/2014/main" id="{32FDB005-1B61-4C0B-9816-C993705C8C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92310B-0C66-43C8-88A9-1154DF6B1645}"/>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1899604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AF336-4B20-4F8A-96DC-DC9876F86C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DE4213-665B-4A34-8240-617C696403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C9C985-A040-4AE0-9288-93168B9DD158}"/>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5" name="Footer Placeholder 4">
            <a:extLst>
              <a:ext uri="{FF2B5EF4-FFF2-40B4-BE49-F238E27FC236}">
                <a16:creationId xmlns:a16="http://schemas.microsoft.com/office/drawing/2014/main" id="{5769F985-44F0-42B2-BB92-8167A8D652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894F59-C0A3-4D86-8E34-FC8574BFFFB4}"/>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1753326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F49FD-01DF-4338-A8B5-A06B8E6D1D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C068D2-E656-4F65-A368-63E48B9F14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B62E56-0A0F-478B-9005-56C80A9D8A88}"/>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5" name="Footer Placeholder 4">
            <a:extLst>
              <a:ext uri="{FF2B5EF4-FFF2-40B4-BE49-F238E27FC236}">
                <a16:creationId xmlns:a16="http://schemas.microsoft.com/office/drawing/2014/main" id="{33B4182D-C5CA-4A26-9D44-00794E10CB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F84AB8-3050-459D-A277-2E6A291A1ECC}"/>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234944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E8B15-6FFE-4976-A75B-8DE9DC9F17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D7A881-BDBB-4E80-931E-6E5BE604F8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9DF2E0-EEA7-4C74-ADD5-5A2CA556D4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A2BB27-2846-466F-BA19-DF695BAAD9BF}"/>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6" name="Footer Placeholder 5">
            <a:extLst>
              <a:ext uri="{FF2B5EF4-FFF2-40B4-BE49-F238E27FC236}">
                <a16:creationId xmlns:a16="http://schemas.microsoft.com/office/drawing/2014/main" id="{9C2800B9-F67F-470E-BD50-EF290D4127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2A6E03-9366-49BB-9246-A1758D52BC84}"/>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1895877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3F65E-F229-4651-A55F-91743C2CF59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51A2DA-DF0A-483F-9E97-C56CF774C8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B28F52-FC91-4941-A0C9-2C404FBB5E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C766F8-482B-4C9E-9C41-552B76AC04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D5A4F-06A4-4CE6-860A-9DC3D1340C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F9D7A5A-13A1-4464-B184-A3EFA9813E26}"/>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8" name="Footer Placeholder 7">
            <a:extLst>
              <a:ext uri="{FF2B5EF4-FFF2-40B4-BE49-F238E27FC236}">
                <a16:creationId xmlns:a16="http://schemas.microsoft.com/office/drawing/2014/main" id="{7C7ED446-4768-479F-91F2-5D06DA731D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5241A0-4BC9-4EDA-8C67-B9C3FC4748E4}"/>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1105418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0D8B-C64C-451B-BFA1-DB9C689A45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D019C62-5963-47F5-BC15-7F1B9E45BC80}"/>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4" name="Footer Placeholder 3">
            <a:extLst>
              <a:ext uri="{FF2B5EF4-FFF2-40B4-BE49-F238E27FC236}">
                <a16:creationId xmlns:a16="http://schemas.microsoft.com/office/drawing/2014/main" id="{76DAFFAD-DD71-4263-83D6-D1C9C9C158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AF17670-294F-4B61-AF7C-8450D68C1DF6}"/>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1550823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2B3597-9ABC-4B8B-B587-486FCED622E1}"/>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3" name="Footer Placeholder 2">
            <a:extLst>
              <a:ext uri="{FF2B5EF4-FFF2-40B4-BE49-F238E27FC236}">
                <a16:creationId xmlns:a16="http://schemas.microsoft.com/office/drawing/2014/main" id="{C41CCF5C-7CF0-4B04-9031-341A522973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2B68AC-CADD-4A6D-84A8-AB8E457B220B}"/>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3394770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5EAC-67FF-4A7A-AEFB-ECDD2DD3C6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7CA83D-0D27-49F0-9B7B-E5F5AFA7C9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322D9A1-98EC-47A2-A0F1-922E73C829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C21F60-24A7-4FC4-9B8A-78BFA7A502DE}"/>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6" name="Footer Placeholder 5">
            <a:extLst>
              <a:ext uri="{FF2B5EF4-FFF2-40B4-BE49-F238E27FC236}">
                <a16:creationId xmlns:a16="http://schemas.microsoft.com/office/drawing/2014/main" id="{1D266D87-0722-4C39-B33F-DF15E26A70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3CB352-4403-40F6-BF3C-3D4975C27F68}"/>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3546834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CD735-A6A4-41E6-A1F7-9204DD9109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75134B-7D34-4BA9-BB4A-F92279A625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BC47C6-496F-4B37-83FF-77235A797F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82A438-3A4D-4F3B-8DFA-A45BC3889D38}"/>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6" name="Footer Placeholder 5">
            <a:extLst>
              <a:ext uri="{FF2B5EF4-FFF2-40B4-BE49-F238E27FC236}">
                <a16:creationId xmlns:a16="http://schemas.microsoft.com/office/drawing/2014/main" id="{14AE44F4-2F66-4ADA-8632-EF5A42283F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27046E-2C4A-48FE-B80D-04DD37655C10}"/>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454554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F3C5E-0632-4012-B331-F61B91C8130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38F70-ABF3-4077-AAE9-B3F689D874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591426-38CF-4C0D-BBCB-2AD59366620E}"/>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5" name="Footer Placeholder 4">
            <a:extLst>
              <a:ext uri="{FF2B5EF4-FFF2-40B4-BE49-F238E27FC236}">
                <a16:creationId xmlns:a16="http://schemas.microsoft.com/office/drawing/2014/main" id="{F3B56761-BAC6-42F5-BF49-CEA1E82000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CC2B05-56B7-461A-B9A9-A98025B55B9C}"/>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2879934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53C548-85D8-40D1-A5B0-1C227C5841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CF8552-0BDE-4BCD-A81D-9559CD6A85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982588-A4D6-46AD-AD54-7F7A17833B63}"/>
              </a:ext>
            </a:extLst>
          </p:cNvPr>
          <p:cNvSpPr>
            <a:spLocks noGrp="1"/>
          </p:cNvSpPr>
          <p:nvPr>
            <p:ph type="dt" sz="half" idx="10"/>
          </p:nvPr>
        </p:nvSpPr>
        <p:spPr/>
        <p:txBody>
          <a:bodyPr/>
          <a:lstStyle/>
          <a:p>
            <a:fld id="{AD4310E6-DCEC-4A2C-873D-07871A97D2AC}" type="datetimeFigureOut">
              <a:rPr lang="en-IN" smtClean="0"/>
              <a:pPr/>
              <a:t>14-05-2026</a:t>
            </a:fld>
            <a:endParaRPr lang="en-IN"/>
          </a:p>
        </p:txBody>
      </p:sp>
      <p:sp>
        <p:nvSpPr>
          <p:cNvPr id="5" name="Footer Placeholder 4">
            <a:extLst>
              <a:ext uri="{FF2B5EF4-FFF2-40B4-BE49-F238E27FC236}">
                <a16:creationId xmlns:a16="http://schemas.microsoft.com/office/drawing/2014/main" id="{BA6DF6E6-FBC9-406D-BDBD-431293F4B6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90D43B-60CA-4811-BE82-344F4EA2D78B}"/>
              </a:ext>
            </a:extLst>
          </p:cNvPr>
          <p:cNvSpPr>
            <a:spLocks noGrp="1"/>
          </p:cNvSpPr>
          <p:nvPr>
            <p:ph type="sldNum" sz="quarter" idx="12"/>
          </p:nvPr>
        </p:nvSpPr>
        <p:spPr/>
        <p:txBody>
          <a:bodyPr/>
          <a:lstStyle/>
          <a:p>
            <a:fld id="{FE195CF6-438A-4E59-B394-85F851EFD314}" type="slidenum">
              <a:rPr lang="en-IN" smtClean="0"/>
              <a:pPr/>
              <a:t>‹#›</a:t>
            </a:fld>
            <a:endParaRPr lang="en-IN"/>
          </a:p>
        </p:txBody>
      </p:sp>
    </p:spTree>
    <p:extLst>
      <p:ext uri="{BB962C8B-B14F-4D97-AF65-F5344CB8AC3E}">
        <p14:creationId xmlns:p14="http://schemas.microsoft.com/office/powerpoint/2010/main" val="3590783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CE89ED-97FD-48E8-8063-F2896847DF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AE692C-EB1E-475F-8FD4-CEE5819055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96012C-14A7-469A-B21C-7D4F01DC86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310E6-DCEC-4A2C-873D-07871A97D2AC}" type="datetimeFigureOut">
              <a:rPr lang="en-IN" smtClean="0"/>
              <a:pPr/>
              <a:t>14-05-2026</a:t>
            </a:fld>
            <a:endParaRPr lang="en-IN"/>
          </a:p>
        </p:txBody>
      </p:sp>
      <p:sp>
        <p:nvSpPr>
          <p:cNvPr id="5" name="Footer Placeholder 4">
            <a:extLst>
              <a:ext uri="{FF2B5EF4-FFF2-40B4-BE49-F238E27FC236}">
                <a16:creationId xmlns:a16="http://schemas.microsoft.com/office/drawing/2014/main" id="{681A4789-AC19-49A3-ADA1-1133A94BC1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9417B1E-FE80-4449-899F-6E98C1D80F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95CF6-438A-4E59-B394-85F851EFD314}" type="slidenum">
              <a:rPr lang="en-IN" smtClean="0"/>
              <a:pPr/>
              <a:t>‹#›</a:t>
            </a:fld>
            <a:endParaRPr lang="en-IN"/>
          </a:p>
        </p:txBody>
      </p:sp>
    </p:spTree>
    <p:extLst>
      <p:ext uri="{BB962C8B-B14F-4D97-AF65-F5344CB8AC3E}">
        <p14:creationId xmlns:p14="http://schemas.microsoft.com/office/powerpoint/2010/main" val="506082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FB3D90-66A4-4011-97D2-6BC37606C380}"/>
              </a:ext>
            </a:extLst>
          </p:cNvPr>
          <p:cNvSpPr txBox="1">
            <a:spLocks noChangeArrowheads="1"/>
          </p:cNvSpPr>
          <p:nvPr/>
        </p:nvSpPr>
        <p:spPr>
          <a:xfrm>
            <a:off x="479376" y="2420888"/>
            <a:ext cx="11233248" cy="3816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sz="3200">
                <a:solidFill>
                  <a:srgbClr val="FF0000"/>
                </a:solidFill>
                <a:latin typeface="Times New Roman" panose="02020603050405020304" pitchFamily="18" charset="0"/>
                <a:cs typeface="Times New Roman" panose="02020603050405020304" pitchFamily="18" charset="0"/>
              </a:rPr>
              <a:t>Grouping Anagrams Using Strings and Sorting </a:t>
            </a:r>
            <a:endParaRPr lang="en-IN" altLang="zh-TW" sz="3200" b="1">
              <a:solidFill>
                <a:srgbClr val="FF0000"/>
              </a:solidFill>
              <a:latin typeface="Times New Roman" panose="02020603050405020304" pitchFamily="18" charset="0"/>
              <a:ea typeface="新細明體" charset="-120"/>
              <a:cs typeface="Times New Roman" panose="02020603050405020304" pitchFamily="18" charset="0"/>
            </a:endParaRPr>
          </a:p>
          <a:p>
            <a:pPr marL="0" indent="0" algn="just">
              <a:lnSpc>
                <a:spcPct val="100000"/>
              </a:lnSpc>
              <a:buNone/>
            </a:pPr>
            <a:r>
              <a:rPr lang="en-IN" altLang="zh-TW" sz="2400" b="1">
                <a:solidFill>
                  <a:srgbClr val="0070C0"/>
                </a:solidFill>
                <a:ea typeface="新細明體" charset="-120"/>
              </a:rPr>
              <a:t>Presented by		: </a:t>
            </a:r>
            <a:r>
              <a:rPr lang="en-IN" altLang="zh-TW" sz="2400" b="1">
                <a:ea typeface="新細明體" charset="-120"/>
              </a:rPr>
              <a:t>P Suryatej Kaasyap (25261A04H6)</a:t>
            </a:r>
          </a:p>
          <a:p>
            <a:pPr marL="0" indent="0" algn="just">
              <a:lnSpc>
                <a:spcPct val="100000"/>
              </a:lnSpc>
              <a:buNone/>
            </a:pPr>
            <a:r>
              <a:rPr lang="en-IN" altLang="zh-TW" sz="2400" b="1">
                <a:ea typeface="新細明體" charset="-120"/>
              </a:rPr>
              <a:t>                                           Y Lohith                    (25261A04K1)</a:t>
            </a:r>
          </a:p>
          <a:p>
            <a:pPr marL="0" indent="0" algn="just">
              <a:lnSpc>
                <a:spcPct val="100000"/>
              </a:lnSpc>
              <a:buNone/>
            </a:pPr>
            <a:r>
              <a:rPr lang="en-IN" altLang="zh-TW" sz="2400" b="1">
                <a:solidFill>
                  <a:srgbClr val="0070C0"/>
                </a:solidFill>
                <a:ea typeface="新細明體" charset="-120"/>
              </a:rPr>
              <a:t>Academic Year	: </a:t>
            </a:r>
            <a:r>
              <a:rPr lang="en-IN" altLang="zh-TW" sz="2400" b="1">
                <a:ea typeface="新細明體" charset="-120"/>
              </a:rPr>
              <a:t>2025-26</a:t>
            </a:r>
          </a:p>
          <a:p>
            <a:pPr marL="0" indent="0" algn="just">
              <a:lnSpc>
                <a:spcPct val="100000"/>
              </a:lnSpc>
              <a:buNone/>
            </a:pPr>
            <a:r>
              <a:rPr lang="en-IN" altLang="zh-TW" sz="2400" b="1">
                <a:solidFill>
                  <a:srgbClr val="0070C0"/>
                </a:solidFill>
                <a:ea typeface="新細明體" charset="-120"/>
              </a:rPr>
              <a:t>Project Guide		: </a:t>
            </a:r>
            <a:r>
              <a:rPr lang="en-IN" altLang="zh-TW" sz="2400" b="1">
                <a:ea typeface="新細明體" charset="-120"/>
              </a:rPr>
              <a:t>Dr. Y. Praveen Kumar Reddy</a:t>
            </a:r>
          </a:p>
          <a:p>
            <a:pPr marL="0" indent="0" algn="just">
              <a:lnSpc>
                <a:spcPct val="100000"/>
              </a:lnSpc>
              <a:buNone/>
            </a:pPr>
            <a:r>
              <a:rPr lang="en-IN" altLang="zh-TW" sz="2400" b="1">
                <a:solidFill>
                  <a:srgbClr val="0070C0"/>
                </a:solidFill>
                <a:ea typeface="新細明體" charset="-120"/>
              </a:rPr>
              <a:t>Date			:</a:t>
            </a:r>
            <a:r>
              <a:rPr lang="en-IN" altLang="zh-TW" sz="2400" b="1">
                <a:ea typeface="新細明體" charset="-120"/>
              </a:rPr>
              <a:t>15-05-26</a:t>
            </a:r>
            <a:r>
              <a:rPr lang="en-IN" altLang="zh-TW" sz="2400" b="1">
                <a:solidFill>
                  <a:srgbClr val="0070C0"/>
                </a:solidFill>
                <a:ea typeface="新細明體" charset="-120"/>
              </a:rPr>
              <a:t>		</a:t>
            </a:r>
            <a:endParaRPr lang="zh-TW" altLang="en-US" sz="2400">
              <a:ea typeface="新細明體" charset="-120"/>
            </a:endParaRPr>
          </a:p>
        </p:txBody>
      </p:sp>
      <p:cxnSp>
        <p:nvCxnSpPr>
          <p:cNvPr id="5" name="Straight Connector 4">
            <a:extLst>
              <a:ext uri="{FF2B5EF4-FFF2-40B4-BE49-F238E27FC236}">
                <a16:creationId xmlns:a16="http://schemas.microsoft.com/office/drawing/2014/main" id="{A7065957-A83D-4D93-B41F-778A04CCCC84}"/>
              </a:ext>
            </a:extLst>
          </p:cNvPr>
          <p:cNvCxnSpPr/>
          <p:nvPr/>
        </p:nvCxnSpPr>
        <p:spPr>
          <a:xfrm>
            <a:off x="479376" y="3284984"/>
            <a:ext cx="11232000" cy="0"/>
          </a:xfrm>
          <a:prstGeom prst="line">
            <a:avLst/>
          </a:prstGeom>
          <a:ln w="38100">
            <a:solidFill>
              <a:schemeClr val="accent4">
                <a:lumMod val="75000"/>
              </a:schemeClr>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6" name="Picture 5" descr="A close-up of a logo&#10;&#10;Description automatically generated">
            <a:extLst>
              <a:ext uri="{FF2B5EF4-FFF2-40B4-BE49-F238E27FC236}">
                <a16:creationId xmlns:a16="http://schemas.microsoft.com/office/drawing/2014/main" id="{A4D0D7D8-A986-D109-039D-AA74D84003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2729"/>
            <a:ext cx="12192000" cy="1937110"/>
          </a:xfrm>
          <a:prstGeom prst="rect">
            <a:avLst/>
          </a:prstGeom>
        </p:spPr>
      </p:pic>
    </p:spTree>
    <p:extLst>
      <p:ext uri="{BB962C8B-B14F-4D97-AF65-F5344CB8AC3E}">
        <p14:creationId xmlns:p14="http://schemas.microsoft.com/office/powerpoint/2010/main" val="864190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51BFC28-1842-46A9-B1DD-2836C2C52CEB}"/>
              </a:ext>
            </a:extLst>
          </p:cNvPr>
          <p:cNvSpPr/>
          <p:nvPr/>
        </p:nvSpPr>
        <p:spPr>
          <a:xfrm>
            <a:off x="0" y="27429"/>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pic>
        <p:nvPicPr>
          <p:cNvPr id="9" name="Picture 8">
            <a:extLst>
              <a:ext uri="{FF2B5EF4-FFF2-40B4-BE49-F238E27FC236}">
                <a16:creationId xmlns:a16="http://schemas.microsoft.com/office/drawing/2014/main" id="{713367DF-5078-4A1A-8949-0B38D0D8A5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
        <p:nvSpPr>
          <p:cNvPr id="12" name="Title 1">
            <a:extLst>
              <a:ext uri="{FF2B5EF4-FFF2-40B4-BE49-F238E27FC236}">
                <a16:creationId xmlns:a16="http://schemas.microsoft.com/office/drawing/2014/main" id="{5C8D5172-2CC4-4842-BDBA-03BDDAEFA013}"/>
              </a:ext>
            </a:extLst>
          </p:cNvPr>
          <p:cNvSpPr>
            <a:spLocks noGrp="1"/>
          </p:cNvSpPr>
          <p:nvPr>
            <p:ph type="ctrTitle"/>
          </p:nvPr>
        </p:nvSpPr>
        <p:spPr>
          <a:xfrm>
            <a:off x="-11032" y="1"/>
            <a:ext cx="12216680" cy="433302"/>
          </a:xfrm>
        </p:spPr>
        <p:txBody>
          <a:bodyPr anchor="ctr" anchorCtr="0">
            <a:noAutofit/>
          </a:bodyPr>
          <a:lstStyle/>
          <a:p>
            <a:pPr algn="l"/>
            <a:r>
              <a:rPr lang="en-IN" sz="2800" b="1">
                <a:solidFill>
                  <a:srgbClr val="002060"/>
                </a:solidFill>
                <a:latin typeface="Times New Roman" panose="02020603050405020304" pitchFamily="18" charset="0"/>
                <a:cs typeface="Times New Roman" panose="02020603050405020304" pitchFamily="18" charset="0"/>
              </a:rPr>
              <a:t>Abstract</a:t>
            </a:r>
          </a:p>
        </p:txBody>
      </p:sp>
      <p:sp>
        <p:nvSpPr>
          <p:cNvPr id="13" name="Title 1">
            <a:extLst>
              <a:ext uri="{FF2B5EF4-FFF2-40B4-BE49-F238E27FC236}">
                <a16:creationId xmlns:a16="http://schemas.microsoft.com/office/drawing/2014/main" id="{F26AEC58-5DE3-4D0E-8378-601B8B89C65C}"/>
              </a:ext>
            </a:extLst>
          </p:cNvPr>
          <p:cNvSpPr txBox="1">
            <a:spLocks/>
          </p:cNvSpPr>
          <p:nvPr/>
        </p:nvSpPr>
        <p:spPr>
          <a:xfrm>
            <a:off x="-11032" y="6525344"/>
            <a:ext cx="11809284" cy="33031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IN" sz="3600"/>
          </a:p>
        </p:txBody>
      </p:sp>
      <p:sp>
        <p:nvSpPr>
          <p:cNvPr id="16" name="TextBox 15">
            <a:extLst>
              <a:ext uri="{FF2B5EF4-FFF2-40B4-BE49-F238E27FC236}">
                <a16:creationId xmlns:a16="http://schemas.microsoft.com/office/drawing/2014/main" id="{55E8906F-51EC-4E92-9395-75AF0B95A387}"/>
              </a:ext>
            </a:extLst>
          </p:cNvPr>
          <p:cNvSpPr txBox="1"/>
          <p:nvPr/>
        </p:nvSpPr>
        <p:spPr>
          <a:xfrm>
            <a:off x="1446674" y="442285"/>
            <a:ext cx="9316408" cy="5970865"/>
          </a:xfrm>
          <a:prstGeom prst="rect">
            <a:avLst/>
          </a:prstGeom>
          <a:noFill/>
        </p:spPr>
        <p:txBody>
          <a:bodyPr wrap="square" rtlCol="0">
            <a:spAutoFit/>
          </a:bodyPr>
          <a:lstStyle/>
          <a:p>
            <a:pPr marL="342900" indent="-342900" algn="just">
              <a:spcAft>
                <a:spcPts val="600"/>
              </a:spcAft>
              <a:buFont typeface="Wingdings" panose="05000000000000000000" pitchFamily="2" charset="2"/>
              <a:buChar char="ü"/>
            </a:pPr>
            <a:r>
              <a:rPr lang="en-US" sz="2200" b="1"/>
              <a:t> </a:t>
            </a:r>
            <a:r>
              <a:rPr lang="en-US" sz="2200">
                <a:latin typeface="Times New Roman" panose="02020603050405020304" pitchFamily="18" charset="0"/>
                <a:cs typeface="Times New Roman" panose="02020603050405020304" pitchFamily="18" charset="0"/>
              </a:rPr>
              <a:t>Anagrams are words formed by rearranging the letters of another word while preserving all original characters exactly once. Identifying and grouping anagrams is a common problem in string processing and algorithm design. </a:t>
            </a:r>
          </a:p>
          <a:p>
            <a:pPr marL="342900" indent="-342900" algn="just">
              <a:spcAft>
                <a:spcPts val="600"/>
              </a:spcAft>
            </a:pPr>
            <a:endParaRPr lang="en-US" sz="2200">
              <a:latin typeface="Times New Roman" panose="02020603050405020304" pitchFamily="18" charset="0"/>
              <a:cs typeface="Times New Roman" panose="02020603050405020304" pitchFamily="18" charset="0"/>
            </a:endParaRPr>
          </a:p>
          <a:p>
            <a:pPr marL="342900" indent="-342900" algn="just">
              <a:spcAft>
                <a:spcPts val="600"/>
              </a:spcAft>
              <a:buFont typeface="Wingdings" panose="05000000000000000000" pitchFamily="2" charset="2"/>
              <a:buChar char="ü"/>
            </a:pPr>
            <a:r>
              <a:rPr lang="en-US" sz="2200" b="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This project focuses on designing and implementing an efficient program to group a collection of words into corresponding anagram sets. The implementation is carried out using the C programming language with concepts such as arrays, strings, sorting techniques, and comparison operations. </a:t>
            </a:r>
          </a:p>
          <a:p>
            <a:pPr marL="342900" indent="-342900" algn="just">
              <a:spcAft>
                <a:spcPts val="600"/>
              </a:spcAft>
            </a:pPr>
            <a:endParaRPr lang="en-US" sz="2200">
              <a:latin typeface="Times New Roman" panose="02020603050405020304" pitchFamily="18" charset="0"/>
              <a:cs typeface="Times New Roman" panose="02020603050405020304" pitchFamily="18" charset="0"/>
            </a:endParaRPr>
          </a:p>
          <a:p>
            <a:pPr marL="342900" indent="-342900" algn="just">
              <a:spcAft>
                <a:spcPts val="600"/>
              </a:spcAft>
              <a:buFont typeface="Wingdings" panose="05000000000000000000" pitchFamily="2" charset="2"/>
              <a:buChar char="ü"/>
            </a:pPr>
            <a:r>
              <a:rPr lang="en-US" sz="2200">
                <a:latin typeface="Times New Roman" panose="02020603050405020304" pitchFamily="18" charset="0"/>
                <a:cs typeface="Times New Roman" panose="02020603050405020304" pitchFamily="18" charset="0"/>
              </a:rPr>
              <a:t>The core idea behind the solution is to convert every word into a canonical form by sorting its characters alphabetically. Words sharing the same sorted representation are grouped together as anagrams. </a:t>
            </a:r>
          </a:p>
          <a:p>
            <a:pPr marL="342900" indent="-342900" algn="just">
              <a:spcAft>
                <a:spcPts val="600"/>
              </a:spcAft>
            </a:pPr>
            <a:endParaRPr lang="en-US" sz="2200">
              <a:latin typeface="Times New Roman" panose="02020603050405020304" pitchFamily="18" charset="0"/>
              <a:cs typeface="Times New Roman" panose="02020603050405020304" pitchFamily="18" charset="0"/>
            </a:endParaRPr>
          </a:p>
          <a:p>
            <a:pPr marL="342900" indent="-342900" algn="just">
              <a:spcAft>
                <a:spcPts val="600"/>
              </a:spcAft>
              <a:buFont typeface="Wingdings" panose="05000000000000000000" pitchFamily="2" charset="2"/>
              <a:buChar char="ü"/>
            </a:pPr>
            <a:r>
              <a:rPr lang="en-US" sz="2200" b="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The project demonstrates efficient data organization and string manipulation techniques while providing practical exposure to algorithmic problem solving. </a:t>
            </a:r>
          </a:p>
        </p:txBody>
      </p:sp>
      <p:pic>
        <p:nvPicPr>
          <p:cNvPr id="10" name="Picture 9">
            <a:extLst>
              <a:ext uri="{FF2B5EF4-FFF2-40B4-BE49-F238E27FC236}">
                <a16:creationId xmlns:a16="http://schemas.microsoft.com/office/drawing/2014/main" id="{D5CA6596-F9CE-4A68-8A3E-F51E7BC5FF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6706" y="1205983"/>
            <a:ext cx="3303405" cy="494088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15" name="Rectangle 14">
            <a:extLst>
              <a:ext uri="{FF2B5EF4-FFF2-40B4-BE49-F238E27FC236}">
                <a16:creationId xmlns:a16="http://schemas.microsoft.com/office/drawing/2014/main" id="{D821C116-3AF1-8930-64FC-09EB602D7A8E}"/>
              </a:ext>
            </a:extLst>
          </p:cNvPr>
          <p:cNvSpPr/>
          <p:nvPr/>
        </p:nvSpPr>
        <p:spPr>
          <a:xfrm>
            <a:off x="0" y="6527682"/>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a:solidFill>
                  <a:schemeClr val="bg1"/>
                </a:solidFill>
                <a:latin typeface="Bahnschrift" panose="020B0502040204020203" pitchFamily="34" charset="0"/>
                <a:ea typeface="新細明體" charset="-120"/>
              </a:rPr>
              <a:t>1</a:t>
            </a:r>
          </a:p>
        </p:txBody>
      </p:sp>
    </p:spTree>
    <p:extLst>
      <p:ext uri="{BB962C8B-B14F-4D97-AF65-F5344CB8AC3E}">
        <p14:creationId xmlns:p14="http://schemas.microsoft.com/office/powerpoint/2010/main" val="2220370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51BFC28-1842-46A9-B1DD-2836C2C52CEB}"/>
              </a:ext>
            </a:extLst>
          </p:cNvPr>
          <p:cNvSpPr/>
          <p:nvPr/>
        </p:nvSpPr>
        <p:spPr>
          <a:xfrm>
            <a:off x="-11032" y="-78095"/>
            <a:ext cx="12219297"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pic>
        <p:nvPicPr>
          <p:cNvPr id="7" name="Picture 6">
            <a:extLst>
              <a:ext uri="{FF2B5EF4-FFF2-40B4-BE49-F238E27FC236}">
                <a16:creationId xmlns:a16="http://schemas.microsoft.com/office/drawing/2014/main" id="{D5CA6596-F9CE-4A68-8A3E-F51E7BC5FF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2436" y="1131084"/>
            <a:ext cx="3245895" cy="5199681"/>
          </a:xfrm>
          <a:prstGeom prst="rect">
            <a:avLst/>
          </a:prstGeom>
          <a:ln>
            <a:noFill/>
          </a:ln>
          <a:effectLst/>
          <a:scene3d>
            <a:camera prst="orthographicFront">
              <a:rot lat="0" lon="0" rev="0"/>
            </a:camera>
            <a:lightRig rig="chilly" dir="t">
              <a:rot lat="0" lon="0" rev="18480000"/>
            </a:lightRig>
          </a:scene3d>
          <a:sp3d prstMaterial="clear">
            <a:bevelT h="63500"/>
          </a:sp3d>
        </p:spPr>
      </p:pic>
      <p:pic>
        <p:nvPicPr>
          <p:cNvPr id="9" name="Picture 8">
            <a:extLst>
              <a:ext uri="{FF2B5EF4-FFF2-40B4-BE49-F238E27FC236}">
                <a16:creationId xmlns:a16="http://schemas.microsoft.com/office/drawing/2014/main" id="{713367DF-5078-4A1A-8949-0B38D0D8A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
        <p:nvSpPr>
          <p:cNvPr id="2" name="TextBox 1">
            <a:extLst>
              <a:ext uri="{FF2B5EF4-FFF2-40B4-BE49-F238E27FC236}">
                <a16:creationId xmlns:a16="http://schemas.microsoft.com/office/drawing/2014/main" id="{F096A1E7-61F0-4C23-8E53-E440759D5CC9}"/>
              </a:ext>
            </a:extLst>
          </p:cNvPr>
          <p:cNvSpPr txBox="1"/>
          <p:nvPr/>
        </p:nvSpPr>
        <p:spPr>
          <a:xfrm>
            <a:off x="1165317" y="891928"/>
            <a:ext cx="9503225" cy="3108543"/>
          </a:xfrm>
          <a:prstGeom prst="rect">
            <a:avLst/>
          </a:prstGeom>
          <a:noFill/>
        </p:spPr>
        <p:txBody>
          <a:bodyPr wrap="square" lIns="91440" tIns="45720" rIns="91440" bIns="45720" rtlCol="0" anchor="t">
            <a:spAutoFit/>
          </a:bodyPr>
          <a:lstStyle/>
          <a:p>
            <a:pPr marL="342900" indent="-342900" algn="just">
              <a:spcAft>
                <a:spcPts val="1200"/>
              </a:spcAft>
              <a:buFont typeface="Wingdings" panose="05000000000000000000" pitchFamily="2" charset="2"/>
              <a:buChar char="ü"/>
            </a:pPr>
            <a:r>
              <a:rPr lang="en-US" sz="2200" dirty="0">
                <a:ea typeface="+mn-lt"/>
                <a:cs typeface="+mn-lt"/>
              </a:rPr>
              <a:t>String processing plays an important role in computer science applications such as text analysis, search optimization, spell checking, and natural language processing. One interesting string manipulation problem is the identification of anagrams.</a:t>
            </a:r>
            <a:endParaRPr lang="en-US" sz="2200" dirty="0">
              <a:latin typeface="Times New Roman"/>
              <a:ea typeface="+mn-lt"/>
              <a:cs typeface="Times New Roman"/>
            </a:endParaRPr>
          </a:p>
          <a:p>
            <a:pPr algn="just">
              <a:spcAft>
                <a:spcPts val="1200"/>
              </a:spcAft>
            </a:pPr>
            <a:endParaRPr lang="en-US" sz="2200" dirty="0">
              <a:ea typeface="+mn-lt"/>
              <a:cs typeface="+mn-lt"/>
            </a:endParaRPr>
          </a:p>
          <a:p>
            <a:pPr marL="342900" indent="-342900" algn="just">
              <a:spcAft>
                <a:spcPts val="1200"/>
              </a:spcAft>
              <a:buFont typeface="Wingdings" panose="05000000000000000000" pitchFamily="2" charset="2"/>
              <a:buChar char="ü"/>
            </a:pPr>
            <a:r>
              <a:rPr lang="en-US" sz="2200" dirty="0">
                <a:ea typeface="+mn-lt"/>
                <a:cs typeface="+mn-lt"/>
              </a:rPr>
              <a:t> An anagram is formed when the letters of a word are rearranged to produce another valid word while maintaining the same character frequency. For example, the words listen and silent are anagrams.</a:t>
            </a:r>
            <a:endParaRPr lang="en-US" sz="2200" dirty="0">
              <a:latin typeface="Times New Roman"/>
              <a:ea typeface="Calibri"/>
              <a:cs typeface="Times New Roman"/>
            </a:endParaRPr>
          </a:p>
        </p:txBody>
      </p:sp>
      <p:sp>
        <p:nvSpPr>
          <p:cNvPr id="15" name="Title 1">
            <a:extLst>
              <a:ext uri="{FF2B5EF4-FFF2-40B4-BE49-F238E27FC236}">
                <a16:creationId xmlns:a16="http://schemas.microsoft.com/office/drawing/2014/main" id="{570252E6-8855-4886-8EB0-3EDDEFAE8CD9}"/>
              </a:ext>
            </a:extLst>
          </p:cNvPr>
          <p:cNvSpPr>
            <a:spLocks noGrp="1"/>
          </p:cNvSpPr>
          <p:nvPr>
            <p:ph type="ctrTitle"/>
          </p:nvPr>
        </p:nvSpPr>
        <p:spPr>
          <a:xfrm>
            <a:off x="0" y="-18372"/>
            <a:ext cx="12137257" cy="433302"/>
          </a:xfrm>
        </p:spPr>
        <p:txBody>
          <a:bodyPr anchor="ctr" anchorCtr="0">
            <a:noAutofit/>
          </a:bodyPr>
          <a:lstStyle/>
          <a:p>
            <a:pPr algn="l"/>
            <a:r>
              <a:rPr lang="en-IN" sz="2800" b="1">
                <a:solidFill>
                  <a:srgbClr val="002060"/>
                </a:solidFill>
                <a:latin typeface="Times New Roman" panose="02020603050405020304" pitchFamily="18" charset="0"/>
                <a:cs typeface="Times New Roman" panose="02020603050405020304" pitchFamily="18" charset="0"/>
              </a:rPr>
              <a:t>Introduction</a:t>
            </a:r>
            <a:endParaRPr lang="en-IN" sz="2800" b="1">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821C116-3AF1-8930-64FC-09EB602D7A8E}"/>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bg1"/>
                </a:solidFill>
                <a:latin typeface="Bahnschrift" panose="020B0502040204020203" pitchFamily="34" charset="0"/>
                <a:ea typeface="新細明體" charset="-120"/>
              </a:rPr>
              <a:t>2</a:t>
            </a:r>
          </a:p>
        </p:txBody>
      </p:sp>
    </p:spTree>
    <p:extLst>
      <p:ext uri="{BB962C8B-B14F-4D97-AF65-F5344CB8AC3E}">
        <p14:creationId xmlns:p14="http://schemas.microsoft.com/office/powerpoint/2010/main" val="1207462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1BFC28-1842-46A9-B1DD-2836C2C52CEB}"/>
              </a:ext>
            </a:extLst>
          </p:cNvPr>
          <p:cNvSpPr>
            <a:spLocks noGrp="1"/>
          </p:cNvSpPr>
          <p:nvPr>
            <p:ph type="title"/>
          </p:nvPr>
        </p:nvSpPr>
        <p:spPr>
          <a:xfrm>
            <a:off x="0" y="1"/>
            <a:ext cx="12192000" cy="49485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en-US" sz="2800" b="1">
                <a:solidFill>
                  <a:srgbClr val="002060"/>
                </a:solidFill>
                <a:latin typeface="Times New Roman" panose="02020603050405020304" pitchFamily="18" charset="0"/>
                <a:cs typeface="Times New Roman" panose="02020603050405020304" pitchFamily="18" charset="0"/>
              </a:rPr>
              <a:t>Anagram Algorithm </a:t>
            </a:r>
          </a:p>
        </p:txBody>
      </p:sp>
      <p:pic>
        <p:nvPicPr>
          <p:cNvPr id="5" name="Picture 4">
            <a:extLst>
              <a:ext uri="{FF2B5EF4-FFF2-40B4-BE49-F238E27FC236}">
                <a16:creationId xmlns:a16="http://schemas.microsoft.com/office/drawing/2014/main" id="{D5CA6596-F9CE-4A68-8A3E-F51E7BC5FF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7329" y="1001587"/>
            <a:ext cx="3705969" cy="494088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6" name="Rectangle 5"/>
          <p:cNvSpPr/>
          <p:nvPr/>
        </p:nvSpPr>
        <p:spPr>
          <a:xfrm>
            <a:off x="1910463" y="513808"/>
            <a:ext cx="8555441" cy="6063198"/>
          </a:xfrm>
          <a:prstGeom prst="rect">
            <a:avLst/>
          </a:prstGeom>
        </p:spPr>
        <p:txBody>
          <a:bodyPr wrap="square">
            <a:spAutoFit/>
          </a:bodyPr>
          <a:lstStyle/>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1. </a:t>
            </a:r>
            <a:r>
              <a:rPr lang="en-US" sz="2200" b="1">
                <a:latin typeface="Times New Roman" panose="02020603050405020304" pitchFamily="18" charset="0"/>
                <a:cs typeface="Times New Roman" panose="02020603050405020304" pitchFamily="18" charset="0"/>
              </a:rPr>
              <a:t>Start</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2.</a:t>
            </a:r>
            <a:r>
              <a:rPr lang="en-US" sz="2200" b="1">
                <a:latin typeface="Times New Roman" panose="02020603050405020304" pitchFamily="18" charset="0"/>
                <a:cs typeface="Times New Roman" panose="02020603050405020304" pitchFamily="18" charset="0"/>
              </a:rPr>
              <a:t> Input</a:t>
            </a:r>
            <a:r>
              <a:rPr lang="en-US" sz="2200">
                <a:latin typeface="Times New Roman" panose="02020603050405020304" pitchFamily="18" charset="0"/>
                <a:cs typeface="Times New Roman" panose="02020603050405020304" pitchFamily="18" charset="0"/>
              </a:rPr>
              <a:t>  the number of words `n`.</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3.</a:t>
            </a:r>
            <a:r>
              <a:rPr lang="en-US" sz="2200" b="1">
                <a:latin typeface="Times New Roman" panose="02020603050405020304" pitchFamily="18" charset="0"/>
                <a:cs typeface="Times New Roman" panose="02020603050405020304" pitchFamily="18" charset="0"/>
              </a:rPr>
              <a:t> Read  </a:t>
            </a:r>
            <a:r>
              <a:rPr lang="en-US" sz="2200">
                <a:latin typeface="Times New Roman" panose="02020603050405020304" pitchFamily="18" charset="0"/>
                <a:cs typeface="Times New Roman" panose="02020603050405020304" pitchFamily="18" charset="0"/>
              </a:rPr>
              <a:t>all words  into  the array  words[ ][ ].</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4. For each word:</a:t>
            </a:r>
          </a:p>
          <a:p>
            <a:endParaRPr lang="en-US" sz="2200">
              <a:latin typeface="Times New Roman" panose="02020603050405020304" pitchFamily="18" charset="0"/>
              <a:cs typeface="Times New Roman" panose="02020603050405020304" pitchFamily="18" charset="0"/>
            </a:endParaRPr>
          </a:p>
          <a:p>
            <a:pPr lvl="1">
              <a:buFont typeface="Wingdings" pitchFamily="2" charset="2"/>
              <a:buChar char="ü"/>
            </a:pPr>
            <a:r>
              <a:rPr lang="en-US" sz="2200">
                <a:latin typeface="Times New Roman" panose="02020603050405020304" pitchFamily="18" charset="0"/>
                <a:cs typeface="Times New Roman" panose="02020603050405020304" pitchFamily="18" charset="0"/>
              </a:rPr>
              <a:t>   Copy  the  word  into  another  array  sorted[ ][ ].</a:t>
            </a:r>
          </a:p>
          <a:p>
            <a:pPr>
              <a:buFont typeface="Wingdings" pitchFamily="2" charset="2"/>
              <a:buChar char="ü"/>
            </a:pPr>
            <a:endParaRPr lang="en-US" sz="2200">
              <a:latin typeface="Times New Roman" panose="02020603050405020304" pitchFamily="18" charset="0"/>
              <a:cs typeface="Times New Roman" panose="02020603050405020304" pitchFamily="18" charset="0"/>
            </a:endParaRPr>
          </a:p>
          <a:p>
            <a:pPr lvl="1" algn="just">
              <a:buFont typeface="Wingdings" pitchFamily="2" charset="2"/>
              <a:buChar char="ü"/>
            </a:pPr>
            <a:r>
              <a:rPr lang="en-US" sz="2200">
                <a:latin typeface="Times New Roman" panose="02020603050405020304" pitchFamily="18" charset="0"/>
                <a:cs typeface="Times New Roman" panose="02020603050405020304" pitchFamily="18" charset="0"/>
              </a:rPr>
              <a:t>   Sort the characters  of  the copied  word  alphabetically   using  </a:t>
            </a:r>
            <a:r>
              <a:rPr lang="en-US" sz="2200" err="1">
                <a:latin typeface="Times New Roman" panose="02020603050405020304" pitchFamily="18" charset="0"/>
                <a:cs typeface="Times New Roman" panose="02020603050405020304" pitchFamily="18" charset="0"/>
              </a:rPr>
              <a:t>sortString</a:t>
            </a:r>
            <a:r>
              <a:rPr lang="en-US" sz="2200">
                <a:latin typeface="Times New Roman" panose="02020603050405020304" pitchFamily="18" charset="0"/>
                <a:cs typeface="Times New Roman" panose="02020603050405020304" pitchFamily="18" charset="0"/>
              </a:rPr>
              <a:t>().</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5. Initialize a  visited[ ]  array  with all  values  as  0.</a:t>
            </a:r>
          </a:p>
          <a:p>
            <a:endParaRPr lang="en-US" sz="2000"/>
          </a:p>
        </p:txBody>
      </p:sp>
      <p:sp>
        <p:nvSpPr>
          <p:cNvPr id="7" name="Rectangle 6"/>
          <p:cNvSpPr/>
          <p:nvPr/>
        </p:nvSpPr>
        <p:spPr>
          <a:xfrm>
            <a:off x="585050" y="576438"/>
            <a:ext cx="3997708" cy="523220"/>
          </a:xfrm>
          <a:prstGeom prst="rect">
            <a:avLst/>
          </a:prstGeom>
        </p:spPr>
        <p:txBody>
          <a:bodyPr wrap="square">
            <a:spAutoFit/>
          </a:bodyPr>
          <a:lstStyle/>
          <a:p>
            <a:r>
              <a:rPr lang="en-US" sz="2800" b="1">
                <a:latin typeface="Times New Roman" panose="02020603050405020304" pitchFamily="18" charset="0"/>
                <a:cs typeface="Times New Roman" panose="02020603050405020304" pitchFamily="18" charset="0"/>
              </a:rPr>
              <a:t>Algorithm</a:t>
            </a:r>
            <a:r>
              <a:rPr lang="en-US" sz="2800"/>
              <a:t> : </a:t>
            </a:r>
          </a:p>
        </p:txBody>
      </p:sp>
      <p:sp>
        <p:nvSpPr>
          <p:cNvPr id="8" name="Rectangle 7">
            <a:extLst>
              <a:ext uri="{FF2B5EF4-FFF2-40B4-BE49-F238E27FC236}">
                <a16:creationId xmlns:a16="http://schemas.microsoft.com/office/drawing/2014/main" id="{D821C116-3AF1-8930-64FC-09EB602D7A8E}"/>
              </a:ext>
            </a:extLst>
          </p:cNvPr>
          <p:cNvSpPr/>
          <p:nvPr/>
        </p:nvSpPr>
        <p:spPr>
          <a:xfrm>
            <a:off x="-11032" y="6525344"/>
            <a:ext cx="1166156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bg1"/>
                </a:solidFill>
                <a:latin typeface="Bahnschrift" panose="020B0502040204020203" pitchFamily="34" charset="0"/>
                <a:ea typeface="新細明體" charset="-120"/>
              </a:rPr>
              <a:t>3</a:t>
            </a:r>
          </a:p>
        </p:txBody>
      </p:sp>
      <p:pic>
        <p:nvPicPr>
          <p:cNvPr id="9" name="Picture 8">
            <a:extLst>
              <a:ext uri="{FF2B5EF4-FFF2-40B4-BE49-F238E27FC236}">
                <a16:creationId xmlns:a16="http://schemas.microsoft.com/office/drawing/2014/main" id="{713367DF-5078-4A1A-8949-0B38D0D8A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5CA6596-F9CE-4A68-8A3E-F51E7BC5FF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6691" y="1653098"/>
            <a:ext cx="3699827" cy="4523865"/>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5" name="Rectangle 4">
            <a:extLst>
              <a:ext uri="{FF2B5EF4-FFF2-40B4-BE49-F238E27FC236}">
                <a16:creationId xmlns:a16="http://schemas.microsoft.com/office/drawing/2014/main" id="{651BFC28-1842-46A9-B1DD-2836C2C52CEB}"/>
              </a:ext>
            </a:extLst>
          </p:cNvPr>
          <p:cNvSpPr/>
          <p:nvPr/>
        </p:nvSpPr>
        <p:spPr>
          <a:xfrm>
            <a:off x="-11032" y="-27384"/>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sp>
        <p:nvSpPr>
          <p:cNvPr id="6" name="Rectangle 5"/>
          <p:cNvSpPr/>
          <p:nvPr/>
        </p:nvSpPr>
        <p:spPr>
          <a:xfrm>
            <a:off x="1522375" y="541912"/>
            <a:ext cx="11071128" cy="6153508"/>
          </a:xfrm>
          <a:prstGeom prst="rect">
            <a:avLst/>
          </a:prstGeom>
        </p:spPr>
        <p:txBody>
          <a:bodyPr wrap="square">
            <a:spAutoFit/>
          </a:bodyPr>
          <a:lstStyle/>
          <a:p>
            <a:r>
              <a:rPr lang="en-US" sz="2000">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6. For each word </a:t>
            </a:r>
            <a:r>
              <a:rPr lang="en-US" sz="2200" err="1">
                <a:latin typeface="Times New Roman" panose="02020603050405020304" pitchFamily="18" charset="0"/>
                <a:cs typeface="Times New Roman" panose="02020603050405020304" pitchFamily="18" charset="0"/>
              </a:rPr>
              <a:t>i</a:t>
            </a:r>
            <a:r>
              <a:rPr lang="en-US" sz="2200">
                <a:latin typeface="Times New Roman" panose="02020603050405020304" pitchFamily="18" charset="0"/>
                <a:cs typeface="Times New Roman" panose="02020603050405020304" pitchFamily="18" charset="0"/>
              </a:rPr>
              <a:t> from 0 to n-1:</a:t>
            </a:r>
          </a:p>
          <a:p>
            <a:endParaRPr lang="en-US" sz="2200">
              <a:latin typeface="Times New Roman" panose="02020603050405020304" pitchFamily="18" charset="0"/>
              <a:cs typeface="Times New Roman" panose="02020603050405020304" pitchFamily="18" charset="0"/>
            </a:endParaRPr>
          </a:p>
          <a:p>
            <a:pPr lvl="1">
              <a:buFont typeface="Wingdings" pitchFamily="2" charset="2"/>
              <a:buChar char="ü"/>
            </a:pPr>
            <a:r>
              <a:rPr lang="en-US" sz="2200">
                <a:latin typeface="Times New Roman" panose="02020603050405020304" pitchFamily="18" charset="0"/>
                <a:cs typeface="Times New Roman" panose="02020603050405020304" pitchFamily="18" charset="0"/>
              </a:rPr>
              <a:t>    If  visited[</a:t>
            </a:r>
            <a:r>
              <a:rPr lang="en-US" sz="2200" err="1">
                <a:latin typeface="Times New Roman" panose="02020603050405020304" pitchFamily="18" charset="0"/>
                <a:cs typeface="Times New Roman" panose="02020603050405020304" pitchFamily="18" charset="0"/>
              </a:rPr>
              <a:t>i</a:t>
            </a:r>
            <a:r>
              <a:rPr lang="en-US" sz="2200">
                <a:latin typeface="Times New Roman" panose="02020603050405020304" pitchFamily="18" charset="0"/>
                <a:cs typeface="Times New Roman" panose="02020603050405020304" pitchFamily="18" charset="0"/>
              </a:rPr>
              <a:t>] is 1,  skip  it.</a:t>
            </a:r>
          </a:p>
          <a:p>
            <a:endParaRPr lang="en-US" sz="2200">
              <a:latin typeface="Times New Roman" panose="02020603050405020304" pitchFamily="18" charset="0"/>
              <a:cs typeface="Times New Roman" panose="02020603050405020304" pitchFamily="18" charset="0"/>
            </a:endParaRPr>
          </a:p>
          <a:p>
            <a:pPr lvl="1">
              <a:buFont typeface="Wingdings" pitchFamily="2" charset="2"/>
              <a:buChar char="ü"/>
            </a:pPr>
            <a:r>
              <a:rPr lang="en-US" sz="2200">
                <a:latin typeface="Times New Roman" panose="02020603050405020304" pitchFamily="18" charset="0"/>
                <a:cs typeface="Times New Roman" panose="02020603050405020304" pitchFamily="18" charset="0"/>
              </a:rPr>
              <a:t>    Print the current word.</a:t>
            </a:r>
          </a:p>
          <a:p>
            <a:endParaRPr lang="en-US" sz="2200">
              <a:latin typeface="Times New Roman" panose="02020603050405020304" pitchFamily="18" charset="0"/>
              <a:cs typeface="Times New Roman" panose="02020603050405020304" pitchFamily="18" charset="0"/>
            </a:endParaRPr>
          </a:p>
          <a:p>
            <a:pPr lvl="1">
              <a:buFont typeface="Wingdings" pitchFamily="2" charset="2"/>
              <a:buChar char="ü"/>
            </a:pPr>
            <a:r>
              <a:rPr lang="en-US" sz="2200">
                <a:latin typeface="Times New Roman" panose="02020603050405020304" pitchFamily="18" charset="0"/>
                <a:cs typeface="Times New Roman" panose="02020603050405020304" pitchFamily="18" charset="0"/>
              </a:rPr>
              <a:t>    Mark visited[</a:t>
            </a:r>
            <a:r>
              <a:rPr lang="en-US" sz="2200" err="1">
                <a:latin typeface="Times New Roman" panose="02020603050405020304" pitchFamily="18" charset="0"/>
                <a:cs typeface="Times New Roman" panose="02020603050405020304" pitchFamily="18" charset="0"/>
              </a:rPr>
              <a:t>i</a:t>
            </a:r>
            <a:r>
              <a:rPr lang="en-US" sz="2200">
                <a:latin typeface="Times New Roman" panose="02020603050405020304" pitchFamily="18" charset="0"/>
                <a:cs typeface="Times New Roman" panose="02020603050405020304" pitchFamily="18" charset="0"/>
              </a:rPr>
              <a:t>] = 1.</a:t>
            </a:r>
          </a:p>
          <a:p>
            <a:pPr lvl="1">
              <a:buFont typeface="Wingdings" pitchFamily="2" charset="2"/>
              <a:buChar char="ü"/>
            </a:pPr>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7. Compare  the  sorted  form  of   the current  word  with  all  remaining  words:</a:t>
            </a:r>
          </a:p>
          <a:p>
            <a:endParaRPr lang="en-US" sz="2200">
              <a:latin typeface="Times New Roman" panose="02020603050405020304" pitchFamily="18" charset="0"/>
              <a:cs typeface="Times New Roman" panose="02020603050405020304" pitchFamily="18" charset="0"/>
            </a:endParaRPr>
          </a:p>
          <a:p>
            <a:pPr lvl="1">
              <a:buFont typeface="Wingdings" pitchFamily="2" charset="2"/>
              <a:buChar char="ü"/>
            </a:pPr>
            <a:r>
              <a:rPr lang="en-US" sz="2200">
                <a:latin typeface="Times New Roman" panose="02020603050405020304" pitchFamily="18" charset="0"/>
                <a:cs typeface="Times New Roman" panose="02020603050405020304" pitchFamily="18" charset="0"/>
              </a:rPr>
              <a:t>   If sorted[</a:t>
            </a:r>
            <a:r>
              <a:rPr lang="en-US" sz="2200" err="1">
                <a:latin typeface="Times New Roman" panose="02020603050405020304" pitchFamily="18" charset="0"/>
                <a:cs typeface="Times New Roman" panose="02020603050405020304" pitchFamily="18" charset="0"/>
              </a:rPr>
              <a:t>i</a:t>
            </a:r>
            <a:r>
              <a:rPr lang="en-US" sz="2200">
                <a:latin typeface="Times New Roman" panose="02020603050405020304" pitchFamily="18" charset="0"/>
                <a:cs typeface="Times New Roman" panose="02020603050405020304" pitchFamily="18" charset="0"/>
              </a:rPr>
              <a:t>]  equals  sorted[j]  using  </a:t>
            </a:r>
            <a:r>
              <a:rPr lang="en-US" sz="2200" err="1">
                <a:latin typeface="Times New Roman" panose="02020603050405020304" pitchFamily="18" charset="0"/>
                <a:cs typeface="Times New Roman" panose="02020603050405020304" pitchFamily="18" charset="0"/>
              </a:rPr>
              <a:t>strcmp</a:t>
            </a:r>
            <a:r>
              <a:rPr lang="en-US" sz="2200">
                <a:latin typeface="Times New Roman" panose="02020603050405020304" pitchFamily="18" charset="0"/>
                <a:cs typeface="Times New Roman" panose="02020603050405020304" pitchFamily="18" charset="0"/>
              </a:rPr>
              <a:t>( ):</a:t>
            </a:r>
          </a:p>
          <a:p>
            <a:pPr>
              <a:buFont typeface="Wingdings" pitchFamily="2" charset="2"/>
              <a:buChar char="ü"/>
            </a:pPr>
            <a:endParaRPr lang="en-US" sz="2200">
              <a:latin typeface="Times New Roman" panose="02020603050405020304" pitchFamily="18" charset="0"/>
              <a:cs typeface="Times New Roman" panose="02020603050405020304" pitchFamily="18" charset="0"/>
            </a:endParaRPr>
          </a:p>
          <a:p>
            <a:pPr lvl="1">
              <a:buFont typeface="Wingdings" pitchFamily="2" charset="2"/>
              <a:buChar char="ü"/>
            </a:pPr>
            <a:r>
              <a:rPr lang="en-US" sz="2200">
                <a:latin typeface="Times New Roman" panose="02020603050405020304" pitchFamily="18" charset="0"/>
                <a:cs typeface="Times New Roman" panose="02020603050405020304" pitchFamily="18" charset="0"/>
              </a:rPr>
              <a:t>   Print the word.</a:t>
            </a:r>
          </a:p>
          <a:p>
            <a:endParaRPr lang="en-US" sz="2200">
              <a:latin typeface="Times New Roman" panose="02020603050405020304" pitchFamily="18" charset="0"/>
              <a:cs typeface="Times New Roman" panose="02020603050405020304" pitchFamily="18" charset="0"/>
            </a:endParaRPr>
          </a:p>
          <a:p>
            <a:pPr lvl="1">
              <a:buFont typeface="Wingdings" pitchFamily="2" charset="2"/>
              <a:buChar char="ü"/>
            </a:pPr>
            <a:r>
              <a:rPr lang="en-US" sz="2200">
                <a:latin typeface="Times New Roman" panose="02020603050405020304" pitchFamily="18" charset="0"/>
                <a:cs typeface="Times New Roman" panose="02020603050405020304" pitchFamily="18" charset="0"/>
              </a:rPr>
              <a:t>   Mark  visited[j] = 1.</a:t>
            </a:r>
          </a:p>
          <a:p>
            <a:r>
              <a:rPr lang="en-US" sz="2200">
                <a:latin typeface="Times New Roman" panose="02020603050405020304" pitchFamily="18" charset="0"/>
                <a:cs typeface="Times New Roman" panose="02020603050405020304" pitchFamily="18" charset="0"/>
              </a:rPr>
              <a:t>   8. Print a new line after each anagram group.</a:t>
            </a:r>
          </a:p>
          <a:p>
            <a:r>
              <a:rPr lang="en-US" sz="2200">
                <a:latin typeface="Times New Roman" panose="02020603050405020304" pitchFamily="18" charset="0"/>
                <a:cs typeface="Times New Roman" panose="02020603050405020304" pitchFamily="18" charset="0"/>
              </a:rPr>
              <a:t>   9. Stop.</a:t>
            </a:r>
          </a:p>
          <a:p>
            <a:endParaRPr lang="en-US"/>
          </a:p>
        </p:txBody>
      </p:sp>
      <p:sp>
        <p:nvSpPr>
          <p:cNvPr id="7" name="Rectangle 6">
            <a:extLst>
              <a:ext uri="{FF2B5EF4-FFF2-40B4-BE49-F238E27FC236}">
                <a16:creationId xmlns:a16="http://schemas.microsoft.com/office/drawing/2014/main" id="{D821C116-3AF1-8930-64FC-09EB602D7A8E}"/>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bg1"/>
                </a:solidFill>
                <a:latin typeface="Bahnschrift" panose="020B0502040204020203" pitchFamily="34" charset="0"/>
                <a:ea typeface="新細明體" charset="-120"/>
              </a:rPr>
              <a:t>4</a:t>
            </a:r>
          </a:p>
        </p:txBody>
      </p:sp>
      <p:pic>
        <p:nvPicPr>
          <p:cNvPr id="8" name="Picture 7">
            <a:extLst>
              <a:ext uri="{FF2B5EF4-FFF2-40B4-BE49-F238E27FC236}">
                <a16:creationId xmlns:a16="http://schemas.microsoft.com/office/drawing/2014/main" id="{713367DF-5078-4A1A-8949-0B38D0D8A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451821"/>
          </a:xfrm>
        </p:spPr>
        <p:txBody>
          <a:bodyPr>
            <a:normAutofit fontScale="90000"/>
          </a:bodyPr>
          <a:lstStyle/>
          <a:p>
            <a:endParaRPr lang="en-US"/>
          </a:p>
        </p:txBody>
      </p:sp>
      <p:pic>
        <p:nvPicPr>
          <p:cNvPr id="4" name="Content Placeholder 3">
            <a:extLst>
              <a:ext uri="{FF2B5EF4-FFF2-40B4-BE49-F238E27FC236}">
                <a16:creationId xmlns:a16="http://schemas.microsoft.com/office/drawing/2014/main" id="{D5CA6596-F9CE-4A68-8A3E-F51E7BC5FF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75482" y="1825625"/>
            <a:ext cx="3441036" cy="435133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5" name="Rectangle 4">
            <a:extLst>
              <a:ext uri="{FF2B5EF4-FFF2-40B4-BE49-F238E27FC236}">
                <a16:creationId xmlns:a16="http://schemas.microsoft.com/office/drawing/2014/main" id="{651BFC28-1842-46A9-B1DD-2836C2C52CEB}"/>
              </a:ext>
            </a:extLst>
          </p:cNvPr>
          <p:cNvSpPr/>
          <p:nvPr/>
        </p:nvSpPr>
        <p:spPr>
          <a:xfrm>
            <a:off x="-11032" y="-27384"/>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b="1">
                <a:solidFill>
                  <a:srgbClr val="002060"/>
                </a:solidFill>
                <a:latin typeface="Times New Roman" panose="02020603050405020304" pitchFamily="18" charset="0"/>
                <a:cs typeface="Times New Roman" panose="02020603050405020304" pitchFamily="18" charset="0"/>
              </a:rPr>
              <a:t>Time Complexity </a:t>
            </a:r>
            <a:endParaRPr lang="en-GB" sz="2800" b="1">
              <a:solidFill>
                <a:srgbClr val="002060"/>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D821C116-3AF1-8930-64FC-09EB602D7A8E}"/>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bg1"/>
                </a:solidFill>
                <a:latin typeface="Bahnschrift" panose="020B0502040204020203" pitchFamily="34" charset="0"/>
                <a:ea typeface="新細明體" charset="-120"/>
              </a:rPr>
              <a:t>5</a:t>
            </a:r>
          </a:p>
        </p:txBody>
      </p:sp>
      <p:pic>
        <p:nvPicPr>
          <p:cNvPr id="7" name="Picture 6">
            <a:extLst>
              <a:ext uri="{FF2B5EF4-FFF2-40B4-BE49-F238E27FC236}">
                <a16:creationId xmlns:a16="http://schemas.microsoft.com/office/drawing/2014/main" id="{713367DF-5078-4A1A-8949-0B38D0D8A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BAA70F4-2C4E-D568-2B56-3E30E0B86CBA}"/>
                  </a:ext>
                </a:extLst>
              </p:cNvPr>
              <p:cNvSpPr txBox="1"/>
              <p:nvPr/>
            </p:nvSpPr>
            <p:spPr>
              <a:xfrm>
                <a:off x="1993065" y="672690"/>
                <a:ext cx="11299703" cy="5509200"/>
              </a:xfrm>
              <a:prstGeom prst="rect">
                <a:avLst/>
              </a:prstGeom>
              <a:noFill/>
            </p:spPr>
            <p:txBody>
              <a:bodyPr wrap="square">
                <a:spAutoFit/>
              </a:bodyPr>
              <a:lstStyle/>
              <a:p>
                <a:r>
                  <a:rPr lang="en-IN" sz="2200">
                    <a:latin typeface="Times New Roman" panose="02020603050405020304" pitchFamily="18" charset="0"/>
                    <a:cs typeface="Times New Roman" panose="02020603050405020304" pitchFamily="18" charset="0"/>
                  </a:rPr>
                  <a:t>For grouping and processing words, time required:</a:t>
                </a:r>
              </a:p>
              <a:p>
                <a:endParaRPr lang="en-IN" sz="22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
                    </m:oMathParaPr>
                    <m:oMath xmlns:m="http://schemas.openxmlformats.org/officeDocument/2006/math">
                      <m:r>
                        <a:rPr lang="en-IN" sz="2200" b="1" i="1">
                          <a:latin typeface="Cambria Math" panose="02040503050406030204" pitchFamily="18" charset="0"/>
                        </a:rPr>
                        <m:t>𝑶</m:t>
                      </m:r>
                      <m:d>
                        <m:dPr>
                          <m:ctrlPr>
                            <a:rPr lang="ar-AE" sz="2200" b="1" i="1">
                              <a:latin typeface="Cambria Math" panose="02040503050406030204" pitchFamily="18" charset="0"/>
                            </a:rPr>
                          </m:ctrlPr>
                        </m:dPr>
                        <m:e>
                          <m:r>
                            <a:rPr lang="ar-AE" sz="2200" b="1" i="1">
                              <a:latin typeface="Cambria Math" panose="02040503050406030204" pitchFamily="18" charset="0"/>
                            </a:rPr>
                            <m:t>𝒏</m:t>
                          </m:r>
                          <m:r>
                            <a:rPr lang="ar-AE" sz="2200" b="1">
                              <a:latin typeface="Cambria Math" panose="02040503050406030204" pitchFamily="18" charset="0"/>
                            </a:rPr>
                            <m:t>⋅</m:t>
                          </m:r>
                          <m:r>
                            <a:rPr lang="ar-AE" sz="2200" b="1" i="1">
                              <a:latin typeface="Cambria Math" panose="02040503050406030204" pitchFamily="18" charset="0"/>
                            </a:rPr>
                            <m:t>𝒌</m:t>
                          </m:r>
                          <m:func>
                            <m:funcPr>
                              <m:ctrlPr>
                                <a:rPr lang="ar-AE" sz="2200" b="1" i="1">
                                  <a:latin typeface="Cambria Math" panose="02040503050406030204" pitchFamily="18" charset="0"/>
                                </a:rPr>
                              </m:ctrlPr>
                            </m:funcPr>
                            <m:fName>
                              <m:r>
                                <a:rPr lang="en-IN" sz="2200" b="1" i="1">
                                  <a:latin typeface="Cambria Math" panose="02040503050406030204" pitchFamily="18" charset="0"/>
                                </a:rPr>
                                <m:t>𝐥𝐨𝐠</m:t>
                              </m:r>
                            </m:fName>
                            <m:e>
                              <m:r>
                                <a:rPr lang="ar-AE" sz="2200" b="1" i="1">
                                  <a:latin typeface="Cambria Math" panose="02040503050406030204" pitchFamily="18" charset="0"/>
                                </a:rPr>
                                <m:t>𝒌</m:t>
                              </m:r>
                            </m:e>
                          </m:func>
                        </m:e>
                      </m:d>
                    </m:oMath>
                  </m:oMathPara>
                </a14:m>
                <a:endParaRPr lang="ar-AE" sz="2200" b="1"/>
              </a:p>
              <a:p>
                <a:r>
                  <a:rPr lang="en-IN" sz="2200">
                    <a:latin typeface="Times New Roman" panose="02020603050405020304" pitchFamily="18" charset="0"/>
                    <a:cs typeface="Times New Roman" panose="02020603050405020304" pitchFamily="18" charset="0"/>
                  </a:rPr>
                  <a:t>where:</a:t>
                </a:r>
              </a:p>
              <a:p>
                <a:endParaRPr lang="en-IN" sz="2200">
                  <a:latin typeface="Times New Roman" panose="02020603050405020304" pitchFamily="18" charset="0"/>
                  <a:cs typeface="Times New Roman" panose="02020603050405020304" pitchFamily="18" charset="0"/>
                </a:endParaRPr>
              </a:p>
              <a:p>
                <a:r>
                  <a:rPr lang="en-IN" sz="2200">
                    <a:latin typeface="Times New Roman" panose="02020603050405020304" pitchFamily="18" charset="0"/>
                    <a:cs typeface="Times New Roman" panose="02020603050405020304" pitchFamily="18" charset="0"/>
                  </a:rPr>
                  <a:t>✓ n = number of words</a:t>
                </a:r>
              </a:p>
              <a:p>
                <a:br>
                  <a:rPr lang="en-IN" sz="2200">
                    <a:latin typeface="Times New Roman" panose="02020603050405020304" pitchFamily="18" charset="0"/>
                    <a:cs typeface="Times New Roman" panose="02020603050405020304" pitchFamily="18" charset="0"/>
                  </a:rPr>
                </a:br>
                <a:r>
                  <a:rPr lang="en-IN" sz="2200">
                    <a:latin typeface="Times New Roman" panose="02020603050405020304" pitchFamily="18" charset="0"/>
                    <a:cs typeface="Times New Roman" panose="02020603050405020304" pitchFamily="18" charset="0"/>
                  </a:rPr>
                  <a:t>✓ k = maximum word length</a:t>
                </a:r>
              </a:p>
              <a:p>
                <a:endParaRPr lang="en-IN" sz="2200">
                  <a:latin typeface="Times New Roman" panose="02020603050405020304" pitchFamily="18" charset="0"/>
                  <a:cs typeface="Times New Roman" panose="02020603050405020304" pitchFamily="18" charset="0"/>
                </a:endParaRPr>
              </a:p>
              <a:p>
                <a:r>
                  <a:rPr lang="en-IN" sz="2200">
                    <a:latin typeface="Times New Roman" panose="02020603050405020304" pitchFamily="18" charset="0"/>
                    <a:cs typeface="Times New Roman" panose="02020603050405020304" pitchFamily="18" charset="0"/>
                  </a:rPr>
                  <a:t>Time Usage Breakdown:</a:t>
                </a:r>
              </a:p>
              <a:p>
                <a:endParaRPr lang="en-IN" sz="2200">
                  <a:latin typeface="Times New Roman" panose="02020603050405020304" pitchFamily="18" charset="0"/>
                  <a:cs typeface="Times New Roman" panose="02020603050405020304" pitchFamily="18" charset="0"/>
                </a:endParaRPr>
              </a:p>
              <a:p>
                <a:r>
                  <a:rPr lang="en-IN" sz="2200">
                    <a:latin typeface="Times New Roman" panose="02020603050405020304" pitchFamily="18" charset="0"/>
                    <a:cs typeface="Times New Roman" panose="02020603050405020304" pitchFamily="18" charset="0"/>
                  </a:rPr>
                  <a:t>✓ Sorting each word → </a:t>
                </a:r>
                <a14:m>
                  <m:oMath xmlns:m="http://schemas.openxmlformats.org/officeDocument/2006/math">
                    <m:r>
                      <a:rPr lang="en-IN" sz="2200" i="1">
                        <a:latin typeface="Cambria Math" panose="02040503050406030204" pitchFamily="18" charset="0"/>
                      </a:rPr>
                      <m:t>𝑂</m:t>
                    </m:r>
                    <m:d>
                      <m:dPr>
                        <m:ctrlPr>
                          <a:rPr lang="ar-AE" sz="2200" i="1">
                            <a:latin typeface="Cambria Math" panose="02040503050406030204" pitchFamily="18" charset="0"/>
                          </a:rPr>
                        </m:ctrlPr>
                      </m:dPr>
                      <m:e>
                        <m:r>
                          <a:rPr lang="ar-AE" sz="2200" i="1">
                            <a:latin typeface="Cambria Math" panose="02040503050406030204" pitchFamily="18" charset="0"/>
                          </a:rPr>
                          <m:t>𝑘</m:t>
                        </m:r>
                        <m:func>
                          <m:funcPr>
                            <m:ctrlPr>
                              <a:rPr lang="ar-AE" sz="2200" i="1">
                                <a:latin typeface="Cambria Math" panose="02040503050406030204" pitchFamily="18" charset="0"/>
                              </a:rPr>
                            </m:ctrlPr>
                          </m:funcPr>
                          <m:fName>
                            <m:r>
                              <m:rPr>
                                <m:sty m:val="p"/>
                              </m:rPr>
                              <a:rPr lang="en-IN" sz="2200">
                                <a:latin typeface="Cambria Math" panose="02040503050406030204" pitchFamily="18" charset="0"/>
                              </a:rPr>
                              <m:t>log</m:t>
                            </m:r>
                          </m:fName>
                          <m:e>
                            <m:r>
                              <a:rPr lang="ar-AE" sz="2200" i="1">
                                <a:latin typeface="Cambria Math" panose="02040503050406030204" pitchFamily="18" charset="0"/>
                              </a:rPr>
                              <m:t>𝑘</m:t>
                            </m:r>
                          </m:e>
                        </m:func>
                      </m:e>
                    </m:d>
                  </m:oMath>
                </a14:m>
                <a:endParaRPr lang="en-US" sz="2200">
                  <a:latin typeface="Times New Roman" panose="02020603050405020304" pitchFamily="18" charset="0"/>
                  <a:cs typeface="Times New Roman" panose="02020603050405020304" pitchFamily="18" charset="0"/>
                </a:endParaRPr>
              </a:p>
              <a:p>
                <a:br>
                  <a:rPr lang="ar-AE" sz="2200">
                    <a:latin typeface="Times New Roman" panose="02020603050405020304" pitchFamily="18" charset="0"/>
                    <a:cs typeface="Times New Roman" panose="02020603050405020304" pitchFamily="18" charset="0"/>
                  </a:rPr>
                </a:br>
                <a:r>
                  <a:rPr lang="ar-AE" sz="2200">
                    <a:latin typeface="Times New Roman" panose="02020603050405020304" pitchFamily="18" charset="0"/>
                    <a:cs typeface="Times New Roman" panose="02020603050405020304" pitchFamily="18" charset="0"/>
                  </a:rPr>
                  <a:t>✓ </a:t>
                </a:r>
                <a:r>
                  <a:rPr lang="en-IN" sz="2200">
                    <a:latin typeface="Times New Roman" panose="02020603050405020304" pitchFamily="18" charset="0"/>
                    <a:cs typeface="Times New Roman" panose="02020603050405020304" pitchFamily="18" charset="0"/>
                  </a:rPr>
                  <a:t>Sorting all words → </a:t>
                </a:r>
                <a14:m>
                  <m:oMath xmlns:m="http://schemas.openxmlformats.org/officeDocument/2006/math">
                    <m:r>
                      <a:rPr lang="en-IN" sz="2200" i="1">
                        <a:latin typeface="Cambria Math" panose="02040503050406030204" pitchFamily="18" charset="0"/>
                      </a:rPr>
                      <m:t>𝑂</m:t>
                    </m:r>
                    <m:d>
                      <m:dPr>
                        <m:ctrlPr>
                          <a:rPr lang="ar-AE" sz="2200" i="1">
                            <a:latin typeface="Cambria Math" panose="02040503050406030204" pitchFamily="18" charset="0"/>
                          </a:rPr>
                        </m:ctrlPr>
                      </m:dPr>
                      <m:e>
                        <m:r>
                          <a:rPr lang="ar-AE" sz="2200" i="1">
                            <a:latin typeface="Cambria Math" panose="02040503050406030204" pitchFamily="18" charset="0"/>
                          </a:rPr>
                          <m:t>𝑛</m:t>
                        </m:r>
                        <m:r>
                          <a:rPr lang="ar-AE" sz="2200">
                            <a:latin typeface="Cambria Math" panose="02040503050406030204" pitchFamily="18" charset="0"/>
                          </a:rPr>
                          <m:t>⋅</m:t>
                        </m:r>
                        <m:r>
                          <a:rPr lang="ar-AE" sz="2200" i="1">
                            <a:latin typeface="Cambria Math" panose="02040503050406030204" pitchFamily="18" charset="0"/>
                          </a:rPr>
                          <m:t>𝑘</m:t>
                        </m:r>
                        <m:func>
                          <m:funcPr>
                            <m:ctrlPr>
                              <a:rPr lang="ar-AE" sz="2200" i="1">
                                <a:latin typeface="Cambria Math" panose="02040503050406030204" pitchFamily="18" charset="0"/>
                              </a:rPr>
                            </m:ctrlPr>
                          </m:funcPr>
                          <m:fName>
                            <m:r>
                              <m:rPr>
                                <m:sty m:val="p"/>
                              </m:rPr>
                              <a:rPr lang="en-IN" sz="2200">
                                <a:latin typeface="Cambria Math" panose="02040503050406030204" pitchFamily="18" charset="0"/>
                              </a:rPr>
                              <m:t>log</m:t>
                            </m:r>
                          </m:fName>
                          <m:e>
                            <m:r>
                              <a:rPr lang="ar-AE" sz="2200" i="1">
                                <a:latin typeface="Cambria Math" panose="02040503050406030204" pitchFamily="18" charset="0"/>
                              </a:rPr>
                              <m:t>𝑘</m:t>
                            </m:r>
                          </m:e>
                        </m:func>
                      </m:e>
                    </m:d>
                  </m:oMath>
                </a14:m>
                <a:endParaRPr lang="en-US" sz="2200">
                  <a:latin typeface="Times New Roman" panose="02020603050405020304" pitchFamily="18" charset="0"/>
                  <a:cs typeface="Times New Roman" panose="02020603050405020304" pitchFamily="18" charset="0"/>
                </a:endParaRPr>
              </a:p>
              <a:p>
                <a:br>
                  <a:rPr lang="ar-AE" sz="2200">
                    <a:latin typeface="Times New Roman" panose="02020603050405020304" pitchFamily="18" charset="0"/>
                    <a:cs typeface="Times New Roman" panose="02020603050405020304" pitchFamily="18" charset="0"/>
                  </a:rPr>
                </a:br>
                <a:r>
                  <a:rPr lang="ar-AE" sz="2200">
                    <a:latin typeface="Times New Roman" panose="02020603050405020304" pitchFamily="18" charset="0"/>
                    <a:cs typeface="Times New Roman" panose="02020603050405020304" pitchFamily="18" charset="0"/>
                  </a:rPr>
                  <a:t>✓</a:t>
                </a:r>
                <a:r>
                  <a:rPr lang="en-IN" sz="2200">
                    <a:latin typeface="Times New Roman" panose="02020603050405020304" pitchFamily="18" charset="0"/>
                    <a:cs typeface="Times New Roman" panose="02020603050405020304" pitchFamily="18" charset="0"/>
                  </a:rPr>
                  <a:t>Comparing sorted words (grouping) </a:t>
                </a:r>
                <a:r>
                  <a:rPr lang="en-IN" sz="2200"/>
                  <a:t>→ </a:t>
                </a:r>
                <a14:m>
                  <m:oMath xmlns:m="http://schemas.openxmlformats.org/officeDocument/2006/math">
                    <m:r>
                      <a:rPr lang="en-IN" sz="2200" i="1">
                        <a:latin typeface="Cambria Math" panose="02040503050406030204" pitchFamily="18" charset="0"/>
                      </a:rPr>
                      <m:t>𝑂</m:t>
                    </m:r>
                    <m:d>
                      <m:dPr>
                        <m:ctrlPr>
                          <a:rPr lang="ar-AE" sz="2200" i="1">
                            <a:latin typeface="Cambria Math" panose="02040503050406030204" pitchFamily="18" charset="0"/>
                          </a:rPr>
                        </m:ctrlPr>
                      </m:dPr>
                      <m:e>
                        <m:sSup>
                          <m:sSupPr>
                            <m:ctrlPr>
                              <a:rPr lang="ar-AE" sz="2200" i="1">
                                <a:latin typeface="Cambria Math" panose="02040503050406030204" pitchFamily="18" charset="0"/>
                              </a:rPr>
                            </m:ctrlPr>
                          </m:sSupPr>
                          <m:e>
                            <m:r>
                              <a:rPr lang="ar-AE" sz="2200" i="1">
                                <a:latin typeface="Cambria Math" panose="02040503050406030204" pitchFamily="18" charset="0"/>
                              </a:rPr>
                              <m:t>𝑛</m:t>
                            </m:r>
                          </m:e>
                          <m:sup>
                            <m:r>
                              <a:rPr lang="ar-AE" sz="2200">
                                <a:latin typeface="Cambria Math" panose="02040503050406030204" pitchFamily="18" charset="0"/>
                              </a:rPr>
                              <m:t>2</m:t>
                            </m:r>
                          </m:sup>
                        </m:sSup>
                        <m:r>
                          <a:rPr lang="ar-AE" sz="2200">
                            <a:latin typeface="Cambria Math" panose="02040503050406030204" pitchFamily="18" charset="0"/>
                          </a:rPr>
                          <m:t>⋅</m:t>
                        </m:r>
                        <m:r>
                          <a:rPr lang="ar-AE" sz="2200" i="1">
                            <a:latin typeface="Cambria Math" panose="02040503050406030204" pitchFamily="18" charset="0"/>
                          </a:rPr>
                          <m:t>𝑘</m:t>
                        </m:r>
                      </m:e>
                    </m:d>
                  </m:oMath>
                </a14:m>
                <a:endParaRPr lang="en-IN" sz="220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2BAA70F4-2C4E-D568-2B56-3E30E0B86CBA}"/>
                  </a:ext>
                </a:extLst>
              </p:cNvPr>
              <p:cNvSpPr txBox="1">
                <a:spLocks noRot="1" noChangeAspect="1" noMove="1" noResize="1" noEditPoints="1" noAdjustHandles="1" noChangeArrowheads="1" noChangeShapeType="1" noTextEdit="1"/>
              </p:cNvSpPr>
              <p:nvPr/>
            </p:nvSpPr>
            <p:spPr>
              <a:xfrm>
                <a:off x="1993065" y="672690"/>
                <a:ext cx="11299703" cy="5509200"/>
              </a:xfrm>
              <a:prstGeom prst="rect">
                <a:avLst/>
              </a:prstGeom>
              <a:blipFill>
                <a:blip r:embed="rId4"/>
                <a:stretch>
                  <a:fillRect l="-755" t="-664" b="-1327"/>
                </a:stretch>
              </a:blipFill>
            </p:spPr>
            <p:txBody>
              <a:bodyPr/>
              <a:lstStyle/>
              <a:p>
                <a:r>
                  <a:rPr 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353800" cy="451821"/>
          </a:xfrm>
        </p:spPr>
        <p:txBody>
          <a:bodyPr>
            <a:normAutofit fontScale="90000"/>
          </a:bodyPr>
          <a:lstStyle/>
          <a:p>
            <a:endParaRPr lang="en-US"/>
          </a:p>
        </p:txBody>
      </p:sp>
      <p:pic>
        <p:nvPicPr>
          <p:cNvPr id="4" name="Content Placeholder 3">
            <a:extLst>
              <a:ext uri="{FF2B5EF4-FFF2-40B4-BE49-F238E27FC236}">
                <a16:creationId xmlns:a16="http://schemas.microsoft.com/office/drawing/2014/main" id="{D5CA6596-F9CE-4A68-8A3E-F51E7BC5FF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75482" y="1825625"/>
            <a:ext cx="3441036" cy="435133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5" name="Rectangle 4">
            <a:extLst>
              <a:ext uri="{FF2B5EF4-FFF2-40B4-BE49-F238E27FC236}">
                <a16:creationId xmlns:a16="http://schemas.microsoft.com/office/drawing/2014/main" id="{651BFC28-1842-46A9-B1DD-2836C2C52CEB}"/>
              </a:ext>
            </a:extLst>
          </p:cNvPr>
          <p:cNvSpPr/>
          <p:nvPr/>
        </p:nvSpPr>
        <p:spPr>
          <a:xfrm>
            <a:off x="-11032" y="-27384"/>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a:solidFill>
                  <a:srgbClr val="002060"/>
                </a:solidFill>
                <a:latin typeface="Times New Roman" panose="02020603050405020304" pitchFamily="18" charset="0"/>
                <a:cs typeface="Times New Roman" panose="02020603050405020304" pitchFamily="18" charset="0"/>
              </a:rPr>
              <a:t>Space complexity</a:t>
            </a:r>
          </a:p>
        </p:txBody>
      </p:sp>
      <p:sp>
        <p:nvSpPr>
          <p:cNvPr id="6" name="Rectangle 5">
            <a:extLst>
              <a:ext uri="{FF2B5EF4-FFF2-40B4-BE49-F238E27FC236}">
                <a16:creationId xmlns:a16="http://schemas.microsoft.com/office/drawing/2014/main" id="{D821C116-3AF1-8930-64FC-09EB602D7A8E}"/>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bg1"/>
                </a:solidFill>
                <a:latin typeface="Bahnschrift" panose="020B0502040204020203" pitchFamily="34" charset="0"/>
                <a:ea typeface="新細明體" charset="-120"/>
              </a:rPr>
              <a:t>6</a:t>
            </a:r>
          </a:p>
        </p:txBody>
      </p:sp>
      <p:pic>
        <p:nvPicPr>
          <p:cNvPr id="7" name="Picture 6">
            <a:extLst>
              <a:ext uri="{FF2B5EF4-FFF2-40B4-BE49-F238E27FC236}">
                <a16:creationId xmlns:a16="http://schemas.microsoft.com/office/drawing/2014/main" id="{713367DF-5078-4A1A-8949-0B38D0D8A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C89257-1737-99C9-56CD-7F6C64D46942}"/>
                  </a:ext>
                </a:extLst>
              </p:cNvPr>
              <p:cNvSpPr txBox="1"/>
              <p:nvPr/>
            </p:nvSpPr>
            <p:spPr>
              <a:xfrm>
                <a:off x="2128890" y="681037"/>
                <a:ext cx="9224910" cy="5847755"/>
              </a:xfrm>
              <a:prstGeom prst="rect">
                <a:avLst/>
              </a:prstGeom>
              <a:noFill/>
            </p:spPr>
            <p:txBody>
              <a:bodyPr wrap="square">
                <a:spAutoFit/>
              </a:bodyPr>
              <a:lstStyle/>
              <a:p>
                <a:pPr>
                  <a:buNone/>
                </a:pPr>
                <a:r>
                  <a:rPr lang="en-IN" sz="2200">
                    <a:latin typeface="Times New Roman" panose="02020603050405020304" pitchFamily="18" charset="0"/>
                    <a:cs typeface="Times New Roman" panose="02020603050405020304" pitchFamily="18" charset="0"/>
                  </a:rPr>
                  <a:t>For storing and processing words, memory requires:</a:t>
                </a:r>
              </a:p>
              <a:p>
                <a:pPr>
                  <a:buNone/>
                </a:pPr>
                <a:endParaRPr lang="en-IN" sz="220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sz="2200" b="1" i="1">
                          <a:latin typeface="Cambria Math" panose="02040503050406030204" pitchFamily="18" charset="0"/>
                        </a:rPr>
                        <m:t>𝑶</m:t>
                      </m:r>
                      <m:d>
                        <m:dPr>
                          <m:ctrlPr>
                            <a:rPr lang="ar-AE" sz="2200" b="1" i="1">
                              <a:latin typeface="Cambria Math" panose="02040503050406030204" pitchFamily="18" charset="0"/>
                            </a:rPr>
                          </m:ctrlPr>
                        </m:dPr>
                        <m:e>
                          <m:r>
                            <a:rPr lang="ar-AE" sz="2200" b="1" i="1">
                              <a:latin typeface="Cambria Math" panose="02040503050406030204" pitchFamily="18" charset="0"/>
                            </a:rPr>
                            <m:t>𝒏</m:t>
                          </m:r>
                          <m:r>
                            <a:rPr lang="ar-AE" sz="2200" b="1" i="0">
                              <a:latin typeface="Cambria Math" panose="02040503050406030204" pitchFamily="18" charset="0"/>
                            </a:rPr>
                            <m:t>⋅</m:t>
                          </m:r>
                          <m:r>
                            <a:rPr lang="ar-AE" sz="2200" b="1" i="1">
                              <a:latin typeface="Cambria Math" panose="02040503050406030204" pitchFamily="18" charset="0"/>
                            </a:rPr>
                            <m:t>𝒌</m:t>
                          </m:r>
                        </m:e>
                      </m:d>
                    </m:oMath>
                  </m:oMathPara>
                </a14:m>
                <a:endParaRPr lang="ar-AE" sz="2200" b="1">
                  <a:latin typeface="Times New Roman" panose="02020603050405020304" pitchFamily="18" charset="0"/>
                  <a:cs typeface="Times New Roman" panose="02020603050405020304" pitchFamily="18" charset="0"/>
                </a:endParaRPr>
              </a:p>
              <a:p>
                <a:pPr>
                  <a:buNone/>
                </a:pPr>
                <a:r>
                  <a:rPr lang="en-IN" sz="2200">
                    <a:latin typeface="Times New Roman" panose="02020603050405020304" pitchFamily="18" charset="0"/>
                    <a:cs typeface="Times New Roman" panose="02020603050405020304" pitchFamily="18" charset="0"/>
                  </a:rPr>
                  <a:t>where:</a:t>
                </a:r>
              </a:p>
              <a:p>
                <a:pPr>
                  <a:buNone/>
                </a:pPr>
                <a:endParaRPr lang="en-IN" sz="22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IN" sz="2200">
                    <a:latin typeface="Times New Roman" panose="02020603050405020304" pitchFamily="18" charset="0"/>
                    <a:cs typeface="Times New Roman" panose="02020603050405020304" pitchFamily="18" charset="0"/>
                  </a:rPr>
                  <a:t>n = number of words </a:t>
                </a:r>
              </a:p>
              <a:p>
                <a:endParaRPr lang="en-IN" sz="22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IN" sz="2200">
                    <a:latin typeface="Times New Roman" panose="02020603050405020304" pitchFamily="18" charset="0"/>
                    <a:cs typeface="Times New Roman" panose="02020603050405020304" pitchFamily="18" charset="0"/>
                  </a:rPr>
                  <a:t>k = maximum word length </a:t>
                </a:r>
              </a:p>
              <a:p>
                <a:pPr>
                  <a:buNone/>
                </a:pPr>
                <a:br>
                  <a:rPr lang="en-IN" sz="2200">
                    <a:latin typeface="Times New Roman" panose="02020603050405020304" pitchFamily="18" charset="0"/>
                    <a:cs typeface="Times New Roman" panose="02020603050405020304" pitchFamily="18" charset="0"/>
                  </a:rPr>
                </a:br>
                <a:endParaRPr lang="en-IN" sz="2200">
                  <a:latin typeface="Times New Roman" panose="02020603050405020304" pitchFamily="18" charset="0"/>
                  <a:cs typeface="Times New Roman" panose="02020603050405020304" pitchFamily="18" charset="0"/>
                </a:endParaRPr>
              </a:p>
              <a:p>
                <a:pPr>
                  <a:buNone/>
                </a:pPr>
                <a:r>
                  <a:rPr lang="en-IN" sz="2200">
                    <a:latin typeface="Times New Roman" panose="02020603050405020304" pitchFamily="18" charset="0"/>
                    <a:cs typeface="Times New Roman" panose="02020603050405020304" pitchFamily="18" charset="0"/>
                  </a:rPr>
                  <a:t>Memory Usage Breakdown:</a:t>
                </a:r>
              </a:p>
              <a:p>
                <a:pPr>
                  <a:buNone/>
                </a:pPr>
                <a:endParaRPr lang="en-IN" sz="22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IN" sz="2200">
                    <a:latin typeface="Times New Roman" panose="02020603050405020304" pitchFamily="18" charset="0"/>
                    <a:cs typeface="Times New Roman" panose="02020603050405020304" pitchFamily="18" charset="0"/>
                  </a:rPr>
                  <a:t>words[MAX][50] → stores input words → O(n · k) </a:t>
                </a:r>
              </a:p>
              <a:p>
                <a:endParaRPr lang="en-IN" sz="22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IN" sz="2200">
                    <a:latin typeface="Times New Roman" panose="02020603050405020304" pitchFamily="18" charset="0"/>
                    <a:cs typeface="Times New Roman" panose="02020603050405020304" pitchFamily="18" charset="0"/>
                  </a:rPr>
                  <a:t>sorted[MAX][50] → stores sorted words → O(n · k)</a:t>
                </a:r>
              </a:p>
              <a:p>
                <a:r>
                  <a:rPr lang="en-IN" sz="220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ü"/>
                </a:pPr>
                <a:r>
                  <a:rPr lang="en-IN" sz="2200">
                    <a:latin typeface="Times New Roman" panose="02020603050405020304" pitchFamily="18" charset="0"/>
                    <a:cs typeface="Times New Roman" panose="02020603050405020304" pitchFamily="18" charset="0"/>
                  </a:rPr>
                  <a:t>visited[MAX] → tracking array → O(n)</a:t>
                </a:r>
              </a:p>
            </p:txBody>
          </p:sp>
        </mc:Choice>
        <mc:Fallback xmlns="">
          <p:sp>
            <p:nvSpPr>
              <p:cNvPr id="8" name="TextBox 7">
                <a:extLst>
                  <a:ext uri="{FF2B5EF4-FFF2-40B4-BE49-F238E27FC236}">
                    <a16:creationId xmlns:a16="http://schemas.microsoft.com/office/drawing/2014/main" id="{E5C89257-1737-99C9-56CD-7F6C64D46942}"/>
                  </a:ext>
                </a:extLst>
              </p:cNvPr>
              <p:cNvSpPr txBox="1">
                <a:spLocks noRot="1" noChangeAspect="1" noMove="1" noResize="1" noEditPoints="1" noAdjustHandles="1" noChangeArrowheads="1" noChangeShapeType="1" noTextEdit="1"/>
              </p:cNvSpPr>
              <p:nvPr/>
            </p:nvSpPr>
            <p:spPr>
              <a:xfrm>
                <a:off x="2128890" y="681037"/>
                <a:ext cx="9224910" cy="5847755"/>
              </a:xfrm>
              <a:prstGeom prst="rect">
                <a:avLst/>
              </a:prstGeom>
              <a:blipFill>
                <a:blip r:embed="rId4"/>
                <a:stretch>
                  <a:fillRect l="-859" t="-730" b="-1147"/>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441064"/>
          </a:xfrm>
        </p:spPr>
        <p:txBody>
          <a:bodyPr>
            <a:normAutofit fontScale="90000"/>
          </a:bodyPr>
          <a:lstStyle/>
          <a:p>
            <a:endParaRPr lang="en-US"/>
          </a:p>
        </p:txBody>
      </p:sp>
      <p:pic>
        <p:nvPicPr>
          <p:cNvPr id="4" name="Content Placeholder 3">
            <a:extLst>
              <a:ext uri="{FF2B5EF4-FFF2-40B4-BE49-F238E27FC236}">
                <a16:creationId xmlns:a16="http://schemas.microsoft.com/office/drawing/2014/main" id="{D5CA6596-F9CE-4A68-8A3E-F51E7BC5FF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75482" y="1825625"/>
            <a:ext cx="3441036" cy="435133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5" name="Rectangle 4">
            <a:extLst>
              <a:ext uri="{FF2B5EF4-FFF2-40B4-BE49-F238E27FC236}">
                <a16:creationId xmlns:a16="http://schemas.microsoft.com/office/drawing/2014/main" id="{651BFC28-1842-46A9-B1DD-2836C2C52CEB}"/>
              </a:ext>
            </a:extLst>
          </p:cNvPr>
          <p:cNvSpPr/>
          <p:nvPr/>
        </p:nvSpPr>
        <p:spPr>
          <a:xfrm>
            <a:off x="-11032" y="-27384"/>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a:solidFill>
                  <a:srgbClr val="002060"/>
                </a:solidFill>
                <a:latin typeface="Times New Roman" panose="02020603050405020304" pitchFamily="18" charset="0"/>
                <a:cs typeface="Times New Roman" panose="02020603050405020304" pitchFamily="18" charset="0"/>
              </a:rPr>
              <a:t>Example</a:t>
            </a:r>
          </a:p>
        </p:txBody>
      </p:sp>
      <p:sp>
        <p:nvSpPr>
          <p:cNvPr id="6" name="Rectangle 5">
            <a:extLst>
              <a:ext uri="{FF2B5EF4-FFF2-40B4-BE49-F238E27FC236}">
                <a16:creationId xmlns:a16="http://schemas.microsoft.com/office/drawing/2014/main" id="{D821C116-3AF1-8930-64FC-09EB602D7A8E}"/>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bg1"/>
                </a:solidFill>
                <a:latin typeface="Bahnschrift" panose="020B0502040204020203" pitchFamily="34" charset="0"/>
                <a:ea typeface="新細明體" charset="-120"/>
              </a:rPr>
              <a:t>7</a:t>
            </a:r>
          </a:p>
        </p:txBody>
      </p:sp>
      <p:pic>
        <p:nvPicPr>
          <p:cNvPr id="7" name="Picture 6">
            <a:extLst>
              <a:ext uri="{FF2B5EF4-FFF2-40B4-BE49-F238E27FC236}">
                <a16:creationId xmlns:a16="http://schemas.microsoft.com/office/drawing/2014/main" id="{713367DF-5078-4A1A-8949-0B38D0D8A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pic>
        <p:nvPicPr>
          <p:cNvPr id="8" name="Picture 7">
            <a:extLst>
              <a:ext uri="{FF2B5EF4-FFF2-40B4-BE49-F238E27FC236}">
                <a16:creationId xmlns:a16="http://schemas.microsoft.com/office/drawing/2014/main" id="{C6AC5CFE-16F9-4508-458C-E26BDDA54F6A}"/>
              </a:ext>
            </a:extLst>
          </p:cNvPr>
          <p:cNvPicPr>
            <a:picLocks noChangeAspect="1"/>
          </p:cNvPicPr>
          <p:nvPr/>
        </p:nvPicPr>
        <p:blipFill>
          <a:blip r:embed="rId4"/>
          <a:stretch>
            <a:fillRect/>
          </a:stretch>
        </p:blipFill>
        <p:spPr>
          <a:xfrm>
            <a:off x="0" y="556591"/>
            <a:ext cx="11996530" cy="58044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441064"/>
          </a:xfrm>
        </p:spPr>
        <p:txBody>
          <a:bodyPr>
            <a:normAutofit fontScale="90000"/>
          </a:bodyPr>
          <a:lstStyle/>
          <a:p>
            <a:endParaRPr lang="en-US"/>
          </a:p>
        </p:txBody>
      </p:sp>
      <p:pic>
        <p:nvPicPr>
          <p:cNvPr id="4" name="Content Placeholder 3">
            <a:extLst>
              <a:ext uri="{FF2B5EF4-FFF2-40B4-BE49-F238E27FC236}">
                <a16:creationId xmlns:a16="http://schemas.microsoft.com/office/drawing/2014/main" id="{D5CA6596-F9CE-4A68-8A3E-F51E7BC5FF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75482" y="1825625"/>
            <a:ext cx="3441036" cy="435133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5" name="Rectangle 4">
            <a:extLst>
              <a:ext uri="{FF2B5EF4-FFF2-40B4-BE49-F238E27FC236}">
                <a16:creationId xmlns:a16="http://schemas.microsoft.com/office/drawing/2014/main" id="{651BFC28-1842-46A9-B1DD-2836C2C52CEB}"/>
              </a:ext>
            </a:extLst>
          </p:cNvPr>
          <p:cNvSpPr/>
          <p:nvPr/>
        </p:nvSpPr>
        <p:spPr>
          <a:xfrm>
            <a:off x="-11032" y="-27384"/>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a:solidFill>
                  <a:srgbClr val="002060"/>
                </a:solidFill>
                <a:latin typeface="Times New Roman" panose="02020603050405020304" pitchFamily="18" charset="0"/>
                <a:cs typeface="Times New Roman" panose="02020603050405020304" pitchFamily="18" charset="0"/>
              </a:rPr>
              <a:t>Technical Applications</a:t>
            </a:r>
          </a:p>
        </p:txBody>
      </p:sp>
      <p:sp>
        <p:nvSpPr>
          <p:cNvPr id="6" name="Rectangle 5">
            <a:extLst>
              <a:ext uri="{FF2B5EF4-FFF2-40B4-BE49-F238E27FC236}">
                <a16:creationId xmlns:a16="http://schemas.microsoft.com/office/drawing/2014/main" id="{D821C116-3AF1-8930-64FC-09EB602D7A8E}"/>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bg1"/>
                </a:solidFill>
                <a:latin typeface="Bahnschrift" panose="020B0502040204020203" pitchFamily="34" charset="0"/>
                <a:ea typeface="新細明體" charset="-120"/>
              </a:rPr>
              <a:t>8</a:t>
            </a:r>
          </a:p>
        </p:txBody>
      </p:sp>
      <p:pic>
        <p:nvPicPr>
          <p:cNvPr id="7" name="Picture 6">
            <a:extLst>
              <a:ext uri="{FF2B5EF4-FFF2-40B4-BE49-F238E27FC236}">
                <a16:creationId xmlns:a16="http://schemas.microsoft.com/office/drawing/2014/main" id="{713367DF-5078-4A1A-8949-0B38D0D8A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
        <p:nvSpPr>
          <p:cNvPr id="8" name="TextBox 7">
            <a:extLst>
              <a:ext uri="{FF2B5EF4-FFF2-40B4-BE49-F238E27FC236}">
                <a16:creationId xmlns:a16="http://schemas.microsoft.com/office/drawing/2014/main" id="{C7634FBF-1D39-B859-3E61-A68884EC8E28}"/>
              </a:ext>
            </a:extLst>
          </p:cNvPr>
          <p:cNvSpPr txBox="1"/>
          <p:nvPr/>
        </p:nvSpPr>
        <p:spPr>
          <a:xfrm>
            <a:off x="1699760" y="566395"/>
            <a:ext cx="10492239" cy="6124217"/>
          </a:xfrm>
          <a:prstGeom prst="rect">
            <a:avLst/>
          </a:prstGeom>
          <a:noFill/>
        </p:spPr>
        <p:txBody>
          <a:bodyPr wrap="square">
            <a:spAutoFit/>
          </a:bodyPr>
          <a:lstStyle/>
          <a:p>
            <a:r>
              <a:rPr lang="en-US" sz="2200">
                <a:latin typeface="Times New Roman" panose="02020603050405020304" pitchFamily="18" charset="0"/>
                <a:cs typeface="Times New Roman" panose="02020603050405020304" pitchFamily="18" charset="0"/>
              </a:rPr>
              <a:t>   1. Compiler Design</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Used in lexical analysis and pattern matching of strings.</a:t>
            </a:r>
          </a:p>
          <a:p>
            <a:endParaRPr lang="en-US" sz="2200">
              <a:latin typeface="Times New Roman" panose="02020603050405020304" pitchFamily="18" charset="0"/>
              <a:cs typeface="Times New Roman" panose="02020603050405020304" pitchFamily="18" charset="0"/>
            </a:endParaRP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2. Database Management Systems (DBMS)</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Helps in grouping similar text records and removing duplicate patterns.</a:t>
            </a:r>
          </a:p>
          <a:p>
            <a:endParaRPr lang="en-US" sz="2200">
              <a:latin typeface="Times New Roman" panose="02020603050405020304" pitchFamily="18" charset="0"/>
              <a:cs typeface="Times New Roman" panose="02020603050405020304" pitchFamily="18" charset="0"/>
            </a:endParaRP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3. Search Engines</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Improves search suggestions by detecting rearranged keywords.</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Example:</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"silent" ↔ "listen“</a:t>
            </a:r>
          </a:p>
          <a:p>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451821"/>
          </a:xfrm>
        </p:spPr>
        <p:txBody>
          <a:bodyPr>
            <a:normAutofit fontScale="90000"/>
          </a:bodyPr>
          <a:lstStyle/>
          <a:p>
            <a:endParaRPr lang="en-US"/>
          </a:p>
        </p:txBody>
      </p:sp>
      <p:pic>
        <p:nvPicPr>
          <p:cNvPr id="4" name="Content Placeholder 3">
            <a:extLst>
              <a:ext uri="{FF2B5EF4-FFF2-40B4-BE49-F238E27FC236}">
                <a16:creationId xmlns:a16="http://schemas.microsoft.com/office/drawing/2014/main" id="{D5CA6596-F9CE-4A68-8A3E-F51E7BC5FF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10936" y="1900928"/>
            <a:ext cx="3441036" cy="435133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5" name="Rectangle 4">
            <a:extLst>
              <a:ext uri="{FF2B5EF4-FFF2-40B4-BE49-F238E27FC236}">
                <a16:creationId xmlns:a16="http://schemas.microsoft.com/office/drawing/2014/main" id="{651BFC28-1842-46A9-B1DD-2836C2C52CEB}"/>
              </a:ext>
            </a:extLst>
          </p:cNvPr>
          <p:cNvSpPr/>
          <p:nvPr/>
        </p:nvSpPr>
        <p:spPr>
          <a:xfrm>
            <a:off x="0" y="0"/>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sp>
        <p:nvSpPr>
          <p:cNvPr id="6" name="Rectangle 5">
            <a:extLst>
              <a:ext uri="{FF2B5EF4-FFF2-40B4-BE49-F238E27FC236}">
                <a16:creationId xmlns:a16="http://schemas.microsoft.com/office/drawing/2014/main" id="{D821C116-3AF1-8930-64FC-09EB602D7A8E}"/>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bg1"/>
                </a:solidFill>
                <a:latin typeface="Bahnschrift" panose="020B0502040204020203" pitchFamily="34" charset="0"/>
                <a:ea typeface="新細明體" charset="-120"/>
              </a:rPr>
              <a:t>9</a:t>
            </a:r>
          </a:p>
        </p:txBody>
      </p:sp>
      <p:pic>
        <p:nvPicPr>
          <p:cNvPr id="7" name="Picture 6">
            <a:extLst>
              <a:ext uri="{FF2B5EF4-FFF2-40B4-BE49-F238E27FC236}">
                <a16:creationId xmlns:a16="http://schemas.microsoft.com/office/drawing/2014/main" id="{713367DF-5078-4A1A-8949-0B38D0D8A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
        <p:nvSpPr>
          <p:cNvPr id="8" name="TextBox 7">
            <a:extLst>
              <a:ext uri="{FF2B5EF4-FFF2-40B4-BE49-F238E27FC236}">
                <a16:creationId xmlns:a16="http://schemas.microsoft.com/office/drawing/2014/main" id="{9174C792-7B94-2848-8196-06717B81A7B1}"/>
              </a:ext>
            </a:extLst>
          </p:cNvPr>
          <p:cNvSpPr txBox="1"/>
          <p:nvPr/>
        </p:nvSpPr>
        <p:spPr>
          <a:xfrm>
            <a:off x="1583135" y="1003717"/>
            <a:ext cx="9280335" cy="5786199"/>
          </a:xfrm>
          <a:prstGeom prst="rect">
            <a:avLst/>
          </a:prstGeom>
          <a:noFill/>
        </p:spPr>
        <p:txBody>
          <a:bodyPr wrap="square">
            <a:spAutoFit/>
          </a:bodyPr>
          <a:lstStyle/>
          <a:p>
            <a:r>
              <a:rPr lang="en-US" sz="2000">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4. Cybersecurity &amp; Cryptography</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Used in basic encryption/decryption techniques involving character rearrangement.</a:t>
            </a:r>
          </a:p>
          <a:p>
            <a:endParaRPr lang="en-US" sz="2200">
              <a:latin typeface="Times New Roman" panose="02020603050405020304" pitchFamily="18" charset="0"/>
              <a:cs typeface="Times New Roman" panose="02020603050405020304" pitchFamily="18" charset="0"/>
            </a:endParaRP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5. Natural Language Processing (NLP)</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Useful in text mining, word similarity checking, and language processing systems.</a:t>
            </a:r>
          </a:p>
          <a:p>
            <a:endParaRPr lang="en-US" sz="2200">
              <a:latin typeface="Times New Roman" panose="02020603050405020304" pitchFamily="18" charset="0"/>
              <a:cs typeface="Times New Roman" panose="02020603050405020304" pitchFamily="18" charset="0"/>
            </a:endParaRP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6. Artificial Intelligence</a:t>
            </a:r>
          </a:p>
          <a:p>
            <a:endParaRPr lang="en-US" sz="2200">
              <a:latin typeface="Times New Roman" panose="02020603050405020304" pitchFamily="18" charset="0"/>
              <a:cs typeface="Times New Roman" panose="02020603050405020304" pitchFamily="18" charset="0"/>
            </a:endParaRPr>
          </a:p>
          <a:p>
            <a:r>
              <a:rPr lang="en-US" sz="2200">
                <a:latin typeface="Times New Roman" panose="02020603050405020304" pitchFamily="18" charset="0"/>
                <a:cs typeface="Times New Roman" panose="02020603050405020304" pitchFamily="18" charset="0"/>
              </a:rPr>
              <a:t>      Used in intelligent word prediction and language-based AI systems.</a:t>
            </a:r>
          </a:p>
          <a:p>
            <a:endParaRPr lang="en-US" sz="2200"/>
          </a:p>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14EA6E5C-948A-5834-8403-5C75FF6C5CFE}"/>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566199" y="963808"/>
            <a:ext cx="11620320" cy="4924784"/>
          </a:xfrm>
          <a:prstGeom prst="rect">
            <a:avLst/>
          </a:prstGeom>
        </p:spPr>
      </p:pic>
      <p:sp>
        <p:nvSpPr>
          <p:cNvPr id="5" name="Rectangle 4">
            <a:extLst>
              <a:ext uri="{FF2B5EF4-FFF2-40B4-BE49-F238E27FC236}">
                <a16:creationId xmlns:a16="http://schemas.microsoft.com/office/drawing/2014/main" id="{92EF6717-ED30-1899-8FCD-C2D5BCBFFE8B}"/>
              </a:ext>
            </a:extLst>
          </p:cNvPr>
          <p:cNvSpPr/>
          <p:nvPr/>
        </p:nvSpPr>
        <p:spPr>
          <a:xfrm>
            <a:off x="-25409" y="1371"/>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sp>
        <p:nvSpPr>
          <p:cNvPr id="7" name="Rectangle 6">
            <a:extLst>
              <a:ext uri="{FF2B5EF4-FFF2-40B4-BE49-F238E27FC236}">
                <a16:creationId xmlns:a16="http://schemas.microsoft.com/office/drawing/2014/main" id="{93A2C2E3-D06F-8E38-36E8-E805425278CF}"/>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TW" sz="1400" b="1">
                <a:solidFill>
                  <a:schemeClr val="bg1"/>
                </a:solidFill>
                <a:latin typeface="Bahnschrift"/>
                <a:ea typeface="新細明體"/>
              </a:rPr>
              <a:t>10</a:t>
            </a:r>
            <a:endParaRPr lang="en-US" altLang="zh-TW" sz="1400" b="1">
              <a:solidFill>
                <a:schemeClr val="bg1"/>
              </a:solidFill>
              <a:latin typeface="Bahnschrift" panose="020B0502040204020203" pitchFamily="34" charset="0"/>
              <a:ea typeface="新細明體" charset="-120"/>
            </a:endParaRPr>
          </a:p>
        </p:txBody>
      </p:sp>
      <p:sp>
        <p:nvSpPr>
          <p:cNvPr id="8" name="TextBox 7">
            <a:extLst>
              <a:ext uri="{FF2B5EF4-FFF2-40B4-BE49-F238E27FC236}">
                <a16:creationId xmlns:a16="http://schemas.microsoft.com/office/drawing/2014/main" id="{2A99EBC0-1D44-7EE8-10CC-F9D6ECD3AFC1}"/>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solidFill>
                  <a:srgbClr val="000000"/>
                </a:solidFill>
                <a:latin typeface="Calibri Light"/>
                <a:ea typeface="Calibri Light"/>
                <a:cs typeface="Calibri Light"/>
              </a:rPr>
              <a:t>​</a:t>
            </a:r>
            <a:endParaRPr lang="en-US"/>
          </a:p>
          <a:p>
            <a:pPr algn="ctr"/>
            <a:endParaRPr lang="en-US"/>
          </a:p>
        </p:txBody>
      </p:sp>
      <p:pic>
        <p:nvPicPr>
          <p:cNvPr id="10" name="Picture 9" descr="A close up of a logo&#10;&#10;AI-generated content may be incorrect.">
            <a:extLst>
              <a:ext uri="{FF2B5EF4-FFF2-40B4-BE49-F238E27FC236}">
                <a16:creationId xmlns:a16="http://schemas.microsoft.com/office/drawing/2014/main" id="{34E312EA-EC77-81B9-898B-A2E74F6B12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9984" y="958556"/>
            <a:ext cx="3907252" cy="4940888"/>
          </a:xfrm>
          <a:prstGeom prst="rect">
            <a:avLst/>
          </a:prstGeom>
          <a:ln>
            <a:noFill/>
          </a:ln>
          <a:effectLst/>
          <a:scene3d>
            <a:camera prst="orthographicFront">
              <a:rot lat="0" lon="0" rev="0"/>
            </a:camera>
            <a:lightRig rig="chilly" dir="t">
              <a:rot lat="0" lon="0" rev="18480000"/>
            </a:lightRig>
          </a:scene3d>
          <a:sp3d prstMaterial="clear">
            <a:bevelT h="63500"/>
          </a:sp3d>
        </p:spPr>
      </p:pic>
      <p:pic>
        <p:nvPicPr>
          <p:cNvPr id="12" name="Picture 11">
            <a:extLst>
              <a:ext uri="{FF2B5EF4-FFF2-40B4-BE49-F238E27FC236}">
                <a16:creationId xmlns:a16="http://schemas.microsoft.com/office/drawing/2014/main" id="{A03F9BB4-60F3-F023-F486-94D094FF65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Tree>
    <p:extLst>
      <p:ext uri="{BB962C8B-B14F-4D97-AF65-F5344CB8AC3E}">
        <p14:creationId xmlns:p14="http://schemas.microsoft.com/office/powerpoint/2010/main" val="2685473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descr="A screenshot of a black and white screen&#10;&#10;AI-generated content may be incorrect.">
            <a:extLst>
              <a:ext uri="{FF2B5EF4-FFF2-40B4-BE49-F238E27FC236}">
                <a16:creationId xmlns:a16="http://schemas.microsoft.com/office/drawing/2014/main" id="{007AF48B-4BC6-A067-B157-0BBC7E6C3FBB}"/>
              </a:ext>
            </a:extLst>
          </p:cNvPr>
          <p:cNvPicPr>
            <a:picLocks noGrp="1" noChangeAspect="1"/>
          </p:cNvPicPr>
          <p:nvPr>
            <p:ph idx="1"/>
          </p:nvPr>
        </p:nvPicPr>
        <p:blipFill>
          <a:blip r:embed="rId2"/>
          <a:stretch>
            <a:fillRect/>
          </a:stretch>
        </p:blipFill>
        <p:spPr>
          <a:xfrm>
            <a:off x="678882" y="595388"/>
            <a:ext cx="10517935" cy="5906038"/>
          </a:xfrm>
          <a:prstGeom prst="rect">
            <a:avLst/>
          </a:prstGeom>
        </p:spPr>
      </p:pic>
      <p:sp>
        <p:nvSpPr>
          <p:cNvPr id="5" name="Rectangle 4">
            <a:extLst>
              <a:ext uri="{FF2B5EF4-FFF2-40B4-BE49-F238E27FC236}">
                <a16:creationId xmlns:a16="http://schemas.microsoft.com/office/drawing/2014/main" id="{92EF6717-ED30-1899-8FCD-C2D5BCBFFE8B}"/>
              </a:ext>
            </a:extLst>
          </p:cNvPr>
          <p:cNvSpPr/>
          <p:nvPr/>
        </p:nvSpPr>
        <p:spPr>
          <a:xfrm>
            <a:off x="-25409" y="1371"/>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sp>
        <p:nvSpPr>
          <p:cNvPr id="7" name="Rectangle 6">
            <a:extLst>
              <a:ext uri="{FF2B5EF4-FFF2-40B4-BE49-F238E27FC236}">
                <a16:creationId xmlns:a16="http://schemas.microsoft.com/office/drawing/2014/main" id="{93A2C2E3-D06F-8E38-36E8-E805425278CF}"/>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TW" sz="1400" b="1">
                <a:solidFill>
                  <a:schemeClr val="bg1"/>
                </a:solidFill>
                <a:latin typeface="Bahnschrift"/>
                <a:ea typeface="新細明體"/>
              </a:rPr>
              <a:t>                                                                                                                        11</a:t>
            </a:r>
            <a:endParaRPr lang="en-US" altLang="zh-TW" sz="1400" b="1">
              <a:solidFill>
                <a:schemeClr val="bg1"/>
              </a:solidFill>
              <a:latin typeface="Bahnschrift" panose="020B0502040204020203" pitchFamily="34" charset="0"/>
              <a:ea typeface="新細明體" charset="-120"/>
            </a:endParaRPr>
          </a:p>
        </p:txBody>
      </p:sp>
      <p:sp>
        <p:nvSpPr>
          <p:cNvPr id="8" name="TextBox 7">
            <a:extLst>
              <a:ext uri="{FF2B5EF4-FFF2-40B4-BE49-F238E27FC236}">
                <a16:creationId xmlns:a16="http://schemas.microsoft.com/office/drawing/2014/main" id="{2A99EBC0-1D44-7EE8-10CC-F9D6ECD3AFC1}"/>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solidFill>
                  <a:srgbClr val="000000"/>
                </a:solidFill>
                <a:latin typeface="Calibri Light"/>
                <a:ea typeface="Calibri Light"/>
                <a:cs typeface="Calibri Light"/>
              </a:rPr>
              <a:t>​</a:t>
            </a:r>
            <a:endParaRPr lang="en-US"/>
          </a:p>
          <a:p>
            <a:pPr algn="ctr"/>
            <a:endParaRPr lang="en-US"/>
          </a:p>
        </p:txBody>
      </p:sp>
      <p:pic>
        <p:nvPicPr>
          <p:cNvPr id="10" name="Picture 9" descr="A close up of a logo&#10;&#10;AI-generated content may be incorrect.">
            <a:extLst>
              <a:ext uri="{FF2B5EF4-FFF2-40B4-BE49-F238E27FC236}">
                <a16:creationId xmlns:a16="http://schemas.microsoft.com/office/drawing/2014/main" id="{34E312EA-EC77-81B9-898B-A2E74F6B12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9984" y="958556"/>
            <a:ext cx="3907252" cy="4940888"/>
          </a:xfrm>
          <a:prstGeom prst="rect">
            <a:avLst/>
          </a:prstGeom>
          <a:ln>
            <a:noFill/>
          </a:ln>
          <a:effectLst/>
          <a:scene3d>
            <a:camera prst="orthographicFront">
              <a:rot lat="0" lon="0" rev="0"/>
            </a:camera>
            <a:lightRig rig="chilly" dir="t">
              <a:rot lat="0" lon="0" rev="18480000"/>
            </a:lightRig>
          </a:scene3d>
          <a:sp3d prstMaterial="clear">
            <a:bevelT h="63500"/>
          </a:sp3d>
        </p:spPr>
      </p:pic>
      <p:pic>
        <p:nvPicPr>
          <p:cNvPr id="12" name="Picture 11">
            <a:extLst>
              <a:ext uri="{FF2B5EF4-FFF2-40B4-BE49-F238E27FC236}">
                <a16:creationId xmlns:a16="http://schemas.microsoft.com/office/drawing/2014/main" id="{A03F9BB4-60F3-F023-F486-94D094FF65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Tree>
    <p:extLst>
      <p:ext uri="{BB962C8B-B14F-4D97-AF65-F5344CB8AC3E}">
        <p14:creationId xmlns:p14="http://schemas.microsoft.com/office/powerpoint/2010/main" val="665230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2EF6717-ED30-1899-8FCD-C2D5BCBFFE8B}"/>
              </a:ext>
            </a:extLst>
          </p:cNvPr>
          <p:cNvSpPr/>
          <p:nvPr/>
        </p:nvSpPr>
        <p:spPr>
          <a:xfrm>
            <a:off x="-25409" y="1371"/>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sp>
        <p:nvSpPr>
          <p:cNvPr id="7" name="Rectangle 6">
            <a:extLst>
              <a:ext uri="{FF2B5EF4-FFF2-40B4-BE49-F238E27FC236}">
                <a16:creationId xmlns:a16="http://schemas.microsoft.com/office/drawing/2014/main" id="{93A2C2E3-D06F-8E38-36E8-E805425278CF}"/>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TW" sz="1400" b="1">
                <a:solidFill>
                  <a:schemeClr val="bg1"/>
                </a:solidFill>
                <a:latin typeface="Bahnschrift"/>
                <a:ea typeface="新細明體"/>
              </a:rPr>
              <a:t>12</a:t>
            </a:r>
            <a:endParaRPr lang="en-US">
              <a:ea typeface="Calibri"/>
              <a:cs typeface="Calibri"/>
            </a:endParaRPr>
          </a:p>
        </p:txBody>
      </p:sp>
      <p:sp>
        <p:nvSpPr>
          <p:cNvPr id="8" name="TextBox 7">
            <a:extLst>
              <a:ext uri="{FF2B5EF4-FFF2-40B4-BE49-F238E27FC236}">
                <a16:creationId xmlns:a16="http://schemas.microsoft.com/office/drawing/2014/main" id="{2A99EBC0-1D44-7EE8-10CC-F9D6ECD3AFC1}"/>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solidFill>
                  <a:srgbClr val="000000"/>
                </a:solidFill>
                <a:latin typeface="Calibri Light"/>
                <a:ea typeface="Calibri Light"/>
                <a:cs typeface="Calibri Light"/>
              </a:rPr>
              <a:t>​</a:t>
            </a:r>
            <a:endParaRPr lang="en-US"/>
          </a:p>
          <a:p>
            <a:pPr algn="ctr"/>
            <a:endParaRPr lang="en-US"/>
          </a:p>
        </p:txBody>
      </p:sp>
      <p:pic>
        <p:nvPicPr>
          <p:cNvPr id="10" name="Picture 9" descr="A close up of a logo&#10;&#10;AI-generated content may be incorrect.">
            <a:extLst>
              <a:ext uri="{FF2B5EF4-FFF2-40B4-BE49-F238E27FC236}">
                <a16:creationId xmlns:a16="http://schemas.microsoft.com/office/drawing/2014/main" id="{34E312EA-EC77-81B9-898B-A2E74F6B12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9984" y="958556"/>
            <a:ext cx="3907252" cy="4940888"/>
          </a:xfrm>
          <a:prstGeom prst="rect">
            <a:avLst/>
          </a:prstGeom>
          <a:ln>
            <a:noFill/>
          </a:ln>
          <a:effectLst/>
          <a:scene3d>
            <a:camera prst="orthographicFront">
              <a:rot lat="0" lon="0" rev="0"/>
            </a:camera>
            <a:lightRig rig="chilly" dir="t">
              <a:rot lat="0" lon="0" rev="18480000"/>
            </a:lightRig>
          </a:scene3d>
          <a:sp3d prstMaterial="clear">
            <a:bevelT h="63500"/>
          </a:sp3d>
        </p:spPr>
      </p:pic>
      <p:pic>
        <p:nvPicPr>
          <p:cNvPr id="12" name="Picture 11">
            <a:extLst>
              <a:ext uri="{FF2B5EF4-FFF2-40B4-BE49-F238E27FC236}">
                <a16:creationId xmlns:a16="http://schemas.microsoft.com/office/drawing/2014/main" id="{A03F9BB4-60F3-F023-F486-94D094FF65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8DD2F445-493D-F641-380C-C49B3AFBD10A}"/>
              </a:ext>
            </a:extLst>
          </p:cNvPr>
          <p:cNvPicPr>
            <a:picLocks noGrp="1" noChangeAspect="1"/>
          </p:cNvPicPr>
          <p:nvPr>
            <p:ph idx="1"/>
          </p:nvPr>
        </p:nvPicPr>
        <p:blipFill>
          <a:blip r:embed="rId4"/>
          <a:stretch>
            <a:fillRect/>
          </a:stretch>
        </p:blipFill>
        <p:spPr>
          <a:xfrm>
            <a:off x="1183976" y="805298"/>
            <a:ext cx="9780916" cy="5083653"/>
          </a:xfrm>
          <a:prstGeom prst="rect">
            <a:avLst/>
          </a:prstGeom>
        </p:spPr>
      </p:pic>
    </p:spTree>
    <p:extLst>
      <p:ext uri="{BB962C8B-B14F-4D97-AF65-F5344CB8AC3E}">
        <p14:creationId xmlns:p14="http://schemas.microsoft.com/office/powerpoint/2010/main" val="1828420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descr="A screenshot of a computer program&#10;&#10;AI-generated content may be incorrect.">
            <a:extLst>
              <a:ext uri="{FF2B5EF4-FFF2-40B4-BE49-F238E27FC236}">
                <a16:creationId xmlns:a16="http://schemas.microsoft.com/office/drawing/2014/main" id="{3F3B5CFC-C027-465E-3657-FAEDCEA1B4FA}"/>
              </a:ext>
            </a:extLst>
          </p:cNvPr>
          <p:cNvPicPr>
            <a:picLocks noGrp="1" noChangeAspect="1"/>
          </p:cNvPicPr>
          <p:nvPr>
            <p:ph idx="1"/>
          </p:nvPr>
        </p:nvPicPr>
        <p:blipFill>
          <a:blip r:embed="rId2"/>
          <a:stretch>
            <a:fillRect/>
          </a:stretch>
        </p:blipFill>
        <p:spPr>
          <a:xfrm>
            <a:off x="1448341" y="458444"/>
            <a:ext cx="8892753" cy="5921134"/>
          </a:xfrm>
          <a:prstGeom prst="rect">
            <a:avLst/>
          </a:prstGeom>
        </p:spPr>
      </p:pic>
      <p:sp>
        <p:nvSpPr>
          <p:cNvPr id="5" name="Rectangle 4">
            <a:extLst>
              <a:ext uri="{FF2B5EF4-FFF2-40B4-BE49-F238E27FC236}">
                <a16:creationId xmlns:a16="http://schemas.microsoft.com/office/drawing/2014/main" id="{92EF6717-ED30-1899-8FCD-C2D5BCBFFE8B}"/>
              </a:ext>
            </a:extLst>
          </p:cNvPr>
          <p:cNvSpPr/>
          <p:nvPr/>
        </p:nvSpPr>
        <p:spPr>
          <a:xfrm>
            <a:off x="-25409" y="1371"/>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sp>
        <p:nvSpPr>
          <p:cNvPr id="7" name="Rectangle 6">
            <a:extLst>
              <a:ext uri="{FF2B5EF4-FFF2-40B4-BE49-F238E27FC236}">
                <a16:creationId xmlns:a16="http://schemas.microsoft.com/office/drawing/2014/main" id="{93A2C2E3-D06F-8E38-36E8-E805425278CF}"/>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TW" sz="1400" b="1">
                <a:solidFill>
                  <a:schemeClr val="bg1"/>
                </a:solidFill>
                <a:latin typeface="Bahnschrift"/>
                <a:ea typeface="新細明體"/>
              </a:rPr>
              <a:t>13</a:t>
            </a:r>
            <a:endParaRPr lang="en-US" altLang="zh-TW" sz="1400" b="1">
              <a:solidFill>
                <a:schemeClr val="bg1"/>
              </a:solidFill>
              <a:latin typeface="Bahnschrift" panose="020B0502040204020203" pitchFamily="34" charset="0"/>
              <a:ea typeface="新細明體" charset="-120"/>
            </a:endParaRPr>
          </a:p>
        </p:txBody>
      </p:sp>
      <p:sp>
        <p:nvSpPr>
          <p:cNvPr id="8" name="TextBox 7">
            <a:extLst>
              <a:ext uri="{FF2B5EF4-FFF2-40B4-BE49-F238E27FC236}">
                <a16:creationId xmlns:a16="http://schemas.microsoft.com/office/drawing/2014/main" id="{2A99EBC0-1D44-7EE8-10CC-F9D6ECD3AFC1}"/>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solidFill>
                  <a:srgbClr val="000000"/>
                </a:solidFill>
                <a:latin typeface="Calibri Light"/>
                <a:ea typeface="Calibri Light"/>
                <a:cs typeface="Calibri Light"/>
              </a:rPr>
              <a:t>​</a:t>
            </a:r>
            <a:endParaRPr lang="en-US"/>
          </a:p>
          <a:p>
            <a:pPr algn="ctr"/>
            <a:endParaRPr lang="en-US"/>
          </a:p>
        </p:txBody>
      </p:sp>
      <p:pic>
        <p:nvPicPr>
          <p:cNvPr id="10" name="Picture 9" descr="A close up of a logo&#10;&#10;AI-generated content may be incorrect.">
            <a:extLst>
              <a:ext uri="{FF2B5EF4-FFF2-40B4-BE49-F238E27FC236}">
                <a16:creationId xmlns:a16="http://schemas.microsoft.com/office/drawing/2014/main" id="{34E312EA-EC77-81B9-898B-A2E74F6B12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9984" y="1102330"/>
            <a:ext cx="3907252" cy="4940888"/>
          </a:xfrm>
          <a:prstGeom prst="rect">
            <a:avLst/>
          </a:prstGeom>
          <a:ln>
            <a:noFill/>
          </a:ln>
          <a:effectLst/>
          <a:scene3d>
            <a:camera prst="orthographicFront">
              <a:rot lat="0" lon="0" rev="0"/>
            </a:camera>
            <a:lightRig rig="chilly" dir="t">
              <a:rot lat="0" lon="0" rev="18480000"/>
            </a:lightRig>
          </a:scene3d>
          <a:sp3d prstMaterial="clear">
            <a:bevelT h="63500"/>
          </a:sp3d>
        </p:spPr>
      </p:pic>
      <p:pic>
        <p:nvPicPr>
          <p:cNvPr id="12" name="Picture 11">
            <a:extLst>
              <a:ext uri="{FF2B5EF4-FFF2-40B4-BE49-F238E27FC236}">
                <a16:creationId xmlns:a16="http://schemas.microsoft.com/office/drawing/2014/main" id="{A03F9BB4-60F3-F023-F486-94D094FF65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Tree>
    <p:extLst>
      <p:ext uri="{BB962C8B-B14F-4D97-AF65-F5344CB8AC3E}">
        <p14:creationId xmlns:p14="http://schemas.microsoft.com/office/powerpoint/2010/main" val="2133226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descr="A screenshot of a computer program&#10;&#10;AI-generated content may be incorrect.">
            <a:extLst>
              <a:ext uri="{FF2B5EF4-FFF2-40B4-BE49-F238E27FC236}">
                <a16:creationId xmlns:a16="http://schemas.microsoft.com/office/drawing/2014/main" id="{F654BC36-0757-14CB-B598-C08CDB131DB0}"/>
              </a:ext>
            </a:extLst>
          </p:cNvPr>
          <p:cNvPicPr>
            <a:picLocks noGrp="1" noChangeAspect="1"/>
          </p:cNvPicPr>
          <p:nvPr>
            <p:ph idx="1"/>
          </p:nvPr>
        </p:nvPicPr>
        <p:blipFill>
          <a:blip r:embed="rId2"/>
          <a:stretch>
            <a:fillRect/>
          </a:stretch>
        </p:blipFill>
        <p:spPr>
          <a:xfrm>
            <a:off x="1348057" y="621537"/>
            <a:ext cx="9725923" cy="5594949"/>
          </a:xfrm>
          <a:prstGeom prst="rect">
            <a:avLst/>
          </a:prstGeom>
        </p:spPr>
      </p:pic>
      <p:sp>
        <p:nvSpPr>
          <p:cNvPr id="5" name="Rectangle 4">
            <a:extLst>
              <a:ext uri="{FF2B5EF4-FFF2-40B4-BE49-F238E27FC236}">
                <a16:creationId xmlns:a16="http://schemas.microsoft.com/office/drawing/2014/main" id="{92EF6717-ED30-1899-8FCD-C2D5BCBFFE8B}"/>
              </a:ext>
            </a:extLst>
          </p:cNvPr>
          <p:cNvSpPr/>
          <p:nvPr/>
        </p:nvSpPr>
        <p:spPr>
          <a:xfrm>
            <a:off x="-25409" y="1371"/>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sp>
        <p:nvSpPr>
          <p:cNvPr id="7" name="Rectangle 6">
            <a:extLst>
              <a:ext uri="{FF2B5EF4-FFF2-40B4-BE49-F238E27FC236}">
                <a16:creationId xmlns:a16="http://schemas.microsoft.com/office/drawing/2014/main" id="{93A2C2E3-D06F-8E38-36E8-E805425278CF}"/>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TW" sz="1400" b="1">
                <a:solidFill>
                  <a:schemeClr val="bg1"/>
                </a:solidFill>
                <a:latin typeface="Bahnschrift"/>
                <a:ea typeface="新細明體"/>
              </a:rPr>
              <a:t>14</a:t>
            </a:r>
            <a:endParaRPr lang="en-US" altLang="zh-TW" sz="1400" b="1">
              <a:solidFill>
                <a:schemeClr val="bg1"/>
              </a:solidFill>
              <a:latin typeface="Bahnschrift" panose="020B0502040204020203" pitchFamily="34" charset="0"/>
              <a:ea typeface="新細明體" charset="-120"/>
            </a:endParaRPr>
          </a:p>
        </p:txBody>
      </p:sp>
      <p:sp>
        <p:nvSpPr>
          <p:cNvPr id="8" name="TextBox 7">
            <a:extLst>
              <a:ext uri="{FF2B5EF4-FFF2-40B4-BE49-F238E27FC236}">
                <a16:creationId xmlns:a16="http://schemas.microsoft.com/office/drawing/2014/main" id="{2A99EBC0-1D44-7EE8-10CC-F9D6ECD3AFC1}"/>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solidFill>
                  <a:srgbClr val="000000"/>
                </a:solidFill>
                <a:latin typeface="Calibri Light"/>
                <a:ea typeface="Calibri Light"/>
                <a:cs typeface="Calibri Light"/>
              </a:rPr>
              <a:t>​</a:t>
            </a:r>
            <a:endParaRPr lang="en-US"/>
          </a:p>
          <a:p>
            <a:pPr algn="ctr"/>
            <a:endParaRPr lang="en-US"/>
          </a:p>
        </p:txBody>
      </p:sp>
      <p:pic>
        <p:nvPicPr>
          <p:cNvPr id="10" name="Picture 9" descr="A close up of a logo&#10;&#10;AI-generated content may be incorrect.">
            <a:extLst>
              <a:ext uri="{FF2B5EF4-FFF2-40B4-BE49-F238E27FC236}">
                <a16:creationId xmlns:a16="http://schemas.microsoft.com/office/drawing/2014/main" id="{34E312EA-EC77-81B9-898B-A2E74F6B12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9946" y="1289235"/>
            <a:ext cx="3907252" cy="4940888"/>
          </a:xfrm>
          <a:prstGeom prst="rect">
            <a:avLst/>
          </a:prstGeom>
          <a:ln>
            <a:noFill/>
          </a:ln>
          <a:effectLst/>
          <a:scene3d>
            <a:camera prst="orthographicFront">
              <a:rot lat="0" lon="0" rev="0"/>
            </a:camera>
            <a:lightRig rig="chilly" dir="t">
              <a:rot lat="0" lon="0" rev="18480000"/>
            </a:lightRig>
          </a:scene3d>
          <a:sp3d prstMaterial="clear">
            <a:bevelT h="63500"/>
          </a:sp3d>
        </p:spPr>
      </p:pic>
      <p:pic>
        <p:nvPicPr>
          <p:cNvPr id="12" name="Picture 11">
            <a:extLst>
              <a:ext uri="{FF2B5EF4-FFF2-40B4-BE49-F238E27FC236}">
                <a16:creationId xmlns:a16="http://schemas.microsoft.com/office/drawing/2014/main" id="{A03F9BB4-60F3-F023-F486-94D094FF65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Tree>
    <p:extLst>
      <p:ext uri="{BB962C8B-B14F-4D97-AF65-F5344CB8AC3E}">
        <p14:creationId xmlns:p14="http://schemas.microsoft.com/office/powerpoint/2010/main" val="439940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A2214C-12DC-5960-F314-14812E30B9C4}"/>
              </a:ext>
            </a:extLst>
          </p:cNvPr>
          <p:cNvPicPr>
            <a:picLocks noGrp="1" noChangeAspect="1"/>
          </p:cNvPicPr>
          <p:nvPr>
            <p:ph idx="1"/>
          </p:nvPr>
        </p:nvPicPr>
        <p:blipFill>
          <a:blip r:embed="rId2"/>
          <a:stretch>
            <a:fillRect/>
          </a:stretch>
        </p:blipFill>
        <p:spPr>
          <a:xfrm>
            <a:off x="1501266" y="649393"/>
            <a:ext cx="9448260" cy="5251689"/>
          </a:xfrm>
          <a:prstGeom prst="rect">
            <a:avLst/>
          </a:prstGeom>
        </p:spPr>
      </p:pic>
      <p:sp>
        <p:nvSpPr>
          <p:cNvPr id="5" name="Rectangle 4">
            <a:extLst>
              <a:ext uri="{FF2B5EF4-FFF2-40B4-BE49-F238E27FC236}">
                <a16:creationId xmlns:a16="http://schemas.microsoft.com/office/drawing/2014/main" id="{FF4513A6-99A4-68F8-0195-4BD7DB73FCA2}"/>
              </a:ext>
            </a:extLst>
          </p:cNvPr>
          <p:cNvSpPr/>
          <p:nvPr/>
        </p:nvSpPr>
        <p:spPr>
          <a:xfrm>
            <a:off x="8208" y="1371"/>
            <a:ext cx="12183063"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pic>
        <p:nvPicPr>
          <p:cNvPr id="7" name="Picture 6" descr="A close up of a logo&#10;&#10;AI-generated content may be incorrect.">
            <a:extLst>
              <a:ext uri="{FF2B5EF4-FFF2-40B4-BE49-F238E27FC236}">
                <a16:creationId xmlns:a16="http://schemas.microsoft.com/office/drawing/2014/main" id="{D913B511-50D5-3AD8-4DF9-DD97055E7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9984" y="958556"/>
            <a:ext cx="3907252" cy="494088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9" name="Rectangle 8">
            <a:extLst>
              <a:ext uri="{FF2B5EF4-FFF2-40B4-BE49-F238E27FC236}">
                <a16:creationId xmlns:a16="http://schemas.microsoft.com/office/drawing/2014/main" id="{ADAAA468-4821-CB55-C5A8-1600730A2463}"/>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TW" sz="1400" b="1">
                <a:solidFill>
                  <a:schemeClr val="bg1"/>
                </a:solidFill>
                <a:latin typeface="Bahnschrift"/>
                <a:ea typeface="新細明體"/>
              </a:rPr>
              <a:t>15</a:t>
            </a:r>
            <a:endParaRPr lang="en-US" altLang="zh-TW" sz="1400" b="1">
              <a:solidFill>
                <a:schemeClr val="bg1"/>
              </a:solidFill>
              <a:latin typeface="Bahnschrift" panose="020B0502040204020203" pitchFamily="34" charset="0"/>
              <a:ea typeface="新細明體" charset="-120"/>
            </a:endParaRPr>
          </a:p>
        </p:txBody>
      </p:sp>
      <p:pic>
        <p:nvPicPr>
          <p:cNvPr id="11" name="Picture 10">
            <a:extLst>
              <a:ext uri="{FF2B5EF4-FFF2-40B4-BE49-F238E27FC236}">
                <a16:creationId xmlns:a16="http://schemas.microsoft.com/office/drawing/2014/main" id="{FC8F64EE-8457-C248-6010-E746C60438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Tree>
    <p:extLst>
      <p:ext uri="{BB962C8B-B14F-4D97-AF65-F5344CB8AC3E}">
        <p14:creationId xmlns:p14="http://schemas.microsoft.com/office/powerpoint/2010/main" val="316960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descr="A screenshot of a computer program&#10;&#10;AI-generated content may be incorrect.">
            <a:extLst>
              <a:ext uri="{FF2B5EF4-FFF2-40B4-BE49-F238E27FC236}">
                <a16:creationId xmlns:a16="http://schemas.microsoft.com/office/drawing/2014/main" id="{0DF05BB7-612E-3DDB-4BF8-868FCF0B2A79}"/>
              </a:ext>
            </a:extLst>
          </p:cNvPr>
          <p:cNvPicPr>
            <a:picLocks noGrp="1" noChangeAspect="1"/>
          </p:cNvPicPr>
          <p:nvPr>
            <p:ph idx="1"/>
          </p:nvPr>
        </p:nvPicPr>
        <p:blipFill>
          <a:blip r:embed="rId2"/>
          <a:stretch>
            <a:fillRect/>
          </a:stretch>
        </p:blipFill>
        <p:spPr>
          <a:xfrm>
            <a:off x="1239238" y="634656"/>
            <a:ext cx="10259862" cy="5266785"/>
          </a:xfrm>
          <a:prstGeom prst="rect">
            <a:avLst/>
          </a:prstGeom>
        </p:spPr>
      </p:pic>
      <p:sp>
        <p:nvSpPr>
          <p:cNvPr id="5" name="Rectangle 4">
            <a:extLst>
              <a:ext uri="{FF2B5EF4-FFF2-40B4-BE49-F238E27FC236}">
                <a16:creationId xmlns:a16="http://schemas.microsoft.com/office/drawing/2014/main" id="{FF4513A6-99A4-68F8-0195-4BD7DB73FCA2}"/>
              </a:ext>
            </a:extLst>
          </p:cNvPr>
          <p:cNvSpPr/>
          <p:nvPr/>
        </p:nvSpPr>
        <p:spPr>
          <a:xfrm>
            <a:off x="8208" y="1371"/>
            <a:ext cx="12183063"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pic>
        <p:nvPicPr>
          <p:cNvPr id="7" name="Picture 6" descr="A close up of a logo&#10;&#10;AI-generated content may be incorrect.">
            <a:extLst>
              <a:ext uri="{FF2B5EF4-FFF2-40B4-BE49-F238E27FC236}">
                <a16:creationId xmlns:a16="http://schemas.microsoft.com/office/drawing/2014/main" id="{D913B511-50D5-3AD8-4DF9-DD97055E7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9984" y="958556"/>
            <a:ext cx="3907252" cy="494088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9" name="Rectangle 8">
            <a:extLst>
              <a:ext uri="{FF2B5EF4-FFF2-40B4-BE49-F238E27FC236}">
                <a16:creationId xmlns:a16="http://schemas.microsoft.com/office/drawing/2014/main" id="{ADAAA468-4821-CB55-C5A8-1600730A2463}"/>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TW" sz="1400" b="1">
                <a:solidFill>
                  <a:schemeClr val="bg1"/>
                </a:solidFill>
                <a:latin typeface="Bahnschrift"/>
                <a:ea typeface="新細明體"/>
              </a:rPr>
              <a:t>16</a:t>
            </a:r>
            <a:endParaRPr lang="en-US" altLang="zh-TW" sz="1400" b="1">
              <a:solidFill>
                <a:schemeClr val="bg1"/>
              </a:solidFill>
              <a:latin typeface="Bahnschrift" panose="020B0502040204020203" pitchFamily="34" charset="0"/>
              <a:ea typeface="新細明體" charset="-120"/>
            </a:endParaRPr>
          </a:p>
        </p:txBody>
      </p:sp>
      <p:pic>
        <p:nvPicPr>
          <p:cNvPr id="11" name="Picture 10">
            <a:extLst>
              <a:ext uri="{FF2B5EF4-FFF2-40B4-BE49-F238E27FC236}">
                <a16:creationId xmlns:a16="http://schemas.microsoft.com/office/drawing/2014/main" id="{FC8F64EE-8457-C248-6010-E746C60438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Tree>
    <p:extLst>
      <p:ext uri="{BB962C8B-B14F-4D97-AF65-F5344CB8AC3E}">
        <p14:creationId xmlns:p14="http://schemas.microsoft.com/office/powerpoint/2010/main" val="610604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descr="A screenshot of a computer program&#10;&#10;AI-generated content may be incorrect.">
            <a:extLst>
              <a:ext uri="{FF2B5EF4-FFF2-40B4-BE49-F238E27FC236}">
                <a16:creationId xmlns:a16="http://schemas.microsoft.com/office/drawing/2014/main" id="{D3EE37A9-9E28-1D1A-7198-D0669773E586}"/>
              </a:ext>
            </a:extLst>
          </p:cNvPr>
          <p:cNvPicPr>
            <a:picLocks noGrp="1" noChangeAspect="1"/>
          </p:cNvPicPr>
          <p:nvPr>
            <p:ph idx="1"/>
          </p:nvPr>
        </p:nvPicPr>
        <p:blipFill>
          <a:blip r:embed="rId2"/>
          <a:stretch>
            <a:fillRect/>
          </a:stretch>
        </p:blipFill>
        <p:spPr>
          <a:xfrm>
            <a:off x="827418" y="678957"/>
            <a:ext cx="10537165" cy="5336334"/>
          </a:xfrm>
          <a:prstGeom prst="rect">
            <a:avLst/>
          </a:prstGeom>
        </p:spPr>
      </p:pic>
      <p:sp>
        <p:nvSpPr>
          <p:cNvPr id="5" name="Rectangle 4">
            <a:extLst>
              <a:ext uri="{FF2B5EF4-FFF2-40B4-BE49-F238E27FC236}">
                <a16:creationId xmlns:a16="http://schemas.microsoft.com/office/drawing/2014/main" id="{FF4513A6-99A4-68F8-0195-4BD7DB73FCA2}"/>
              </a:ext>
            </a:extLst>
          </p:cNvPr>
          <p:cNvSpPr/>
          <p:nvPr/>
        </p:nvSpPr>
        <p:spPr>
          <a:xfrm>
            <a:off x="8208" y="1371"/>
            <a:ext cx="12183063"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pic>
        <p:nvPicPr>
          <p:cNvPr id="7" name="Picture 6" descr="A close up of a logo&#10;&#10;AI-generated content may be incorrect.">
            <a:extLst>
              <a:ext uri="{FF2B5EF4-FFF2-40B4-BE49-F238E27FC236}">
                <a16:creationId xmlns:a16="http://schemas.microsoft.com/office/drawing/2014/main" id="{D913B511-50D5-3AD8-4DF9-DD97055E7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8059" y="958556"/>
            <a:ext cx="3907252" cy="494088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9" name="Rectangle 8">
            <a:extLst>
              <a:ext uri="{FF2B5EF4-FFF2-40B4-BE49-F238E27FC236}">
                <a16:creationId xmlns:a16="http://schemas.microsoft.com/office/drawing/2014/main" id="{ADAAA468-4821-CB55-C5A8-1600730A2463}"/>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TW" sz="1400" b="1">
                <a:solidFill>
                  <a:schemeClr val="bg1"/>
                </a:solidFill>
                <a:latin typeface="Bahnschrift"/>
                <a:ea typeface="新細明體"/>
              </a:rPr>
              <a:t>17</a:t>
            </a:r>
            <a:endParaRPr lang="en-US" altLang="zh-TW" sz="1400" b="1">
              <a:solidFill>
                <a:schemeClr val="bg1"/>
              </a:solidFill>
              <a:latin typeface="Bahnschrift" panose="020B0502040204020203" pitchFamily="34" charset="0"/>
              <a:ea typeface="新細明體" charset="-120"/>
            </a:endParaRPr>
          </a:p>
        </p:txBody>
      </p:sp>
      <p:pic>
        <p:nvPicPr>
          <p:cNvPr id="11" name="Picture 10">
            <a:extLst>
              <a:ext uri="{FF2B5EF4-FFF2-40B4-BE49-F238E27FC236}">
                <a16:creationId xmlns:a16="http://schemas.microsoft.com/office/drawing/2014/main" id="{FC8F64EE-8457-C248-6010-E746C60438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Tree>
    <p:extLst>
      <p:ext uri="{BB962C8B-B14F-4D97-AF65-F5344CB8AC3E}">
        <p14:creationId xmlns:p14="http://schemas.microsoft.com/office/powerpoint/2010/main" val="1277565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5CA6596-F9CE-4A68-8A3E-F51E7BC5FF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75482" y="1825625"/>
            <a:ext cx="3441036" cy="4351338"/>
          </a:xfrm>
          <a:prstGeom prst="rect">
            <a:avLst/>
          </a:prstGeom>
          <a:ln>
            <a:noFill/>
          </a:ln>
          <a:effectLst/>
          <a:scene3d>
            <a:camera prst="orthographicFront">
              <a:rot lat="0" lon="0" rev="0"/>
            </a:camera>
            <a:lightRig rig="chilly" dir="t">
              <a:rot lat="0" lon="0" rev="18480000"/>
            </a:lightRig>
          </a:scene3d>
          <a:sp3d prstMaterial="clear">
            <a:bevelT h="63500"/>
          </a:sp3d>
        </p:spPr>
      </p:pic>
      <p:sp>
        <p:nvSpPr>
          <p:cNvPr id="5" name="Rectangle 4">
            <a:extLst>
              <a:ext uri="{FF2B5EF4-FFF2-40B4-BE49-F238E27FC236}">
                <a16:creationId xmlns:a16="http://schemas.microsoft.com/office/drawing/2014/main" id="{651BFC28-1842-46A9-B1DD-2836C2C52CEB}"/>
              </a:ext>
            </a:extLst>
          </p:cNvPr>
          <p:cNvSpPr/>
          <p:nvPr/>
        </p:nvSpPr>
        <p:spPr>
          <a:xfrm>
            <a:off x="-11032" y="-27384"/>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sp>
        <p:nvSpPr>
          <p:cNvPr id="7" name="Title 1"/>
          <p:cNvSpPr>
            <a:spLocks noGrp="1"/>
          </p:cNvSpPr>
          <p:nvPr>
            <p:ph type="title"/>
          </p:nvPr>
        </p:nvSpPr>
        <p:spPr>
          <a:xfrm>
            <a:off x="0" y="1"/>
            <a:ext cx="12192000" cy="430924"/>
          </a:xfrm>
        </p:spPr>
        <p:txBody>
          <a:bodyPr>
            <a:noAutofit/>
          </a:bodyPr>
          <a:lstStyle/>
          <a:p>
            <a:r>
              <a:rPr lang="en-US" sz="2800" b="1">
                <a:solidFill>
                  <a:schemeClr val="accent1">
                    <a:lumMod val="50000"/>
                  </a:schemeClr>
                </a:solidFill>
                <a:latin typeface="Times New Roman" panose="02020603050405020304" pitchFamily="18" charset="0"/>
                <a:cs typeface="Times New Roman" panose="02020603050405020304" pitchFamily="18" charset="0"/>
              </a:rPr>
              <a:t>References</a:t>
            </a:r>
          </a:p>
        </p:txBody>
      </p:sp>
      <p:sp>
        <p:nvSpPr>
          <p:cNvPr id="6" name="Rectangle 5">
            <a:extLst>
              <a:ext uri="{FF2B5EF4-FFF2-40B4-BE49-F238E27FC236}">
                <a16:creationId xmlns:a16="http://schemas.microsoft.com/office/drawing/2014/main" id="{D821C116-3AF1-8930-64FC-09EB602D7A8E}"/>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TW" sz="1400" b="1">
                <a:solidFill>
                  <a:schemeClr val="bg1"/>
                </a:solidFill>
                <a:latin typeface="Bahnschrift"/>
                <a:ea typeface="新細明體"/>
              </a:rPr>
              <a:t>18</a:t>
            </a:r>
            <a:endParaRPr lang="en-US" altLang="zh-TW" sz="1400" b="1">
              <a:solidFill>
                <a:schemeClr val="bg1"/>
              </a:solidFill>
              <a:latin typeface="Bahnschrift" panose="020B0502040204020203" pitchFamily="34" charset="0"/>
              <a:ea typeface="新細明體" charset="-120"/>
            </a:endParaRPr>
          </a:p>
        </p:txBody>
      </p:sp>
      <p:pic>
        <p:nvPicPr>
          <p:cNvPr id="8" name="Picture 7">
            <a:extLst>
              <a:ext uri="{FF2B5EF4-FFF2-40B4-BE49-F238E27FC236}">
                <a16:creationId xmlns:a16="http://schemas.microsoft.com/office/drawing/2014/main" id="{713367DF-5078-4A1A-8949-0B38D0D8A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11900" y="6525344"/>
            <a:ext cx="407396" cy="332656"/>
          </a:xfrm>
          <a:prstGeom prst="rect">
            <a:avLst/>
          </a:prstGeom>
        </p:spPr>
      </p:pic>
      <p:sp>
        <p:nvSpPr>
          <p:cNvPr id="3" name="TextBox 2">
            <a:extLst>
              <a:ext uri="{FF2B5EF4-FFF2-40B4-BE49-F238E27FC236}">
                <a16:creationId xmlns:a16="http://schemas.microsoft.com/office/drawing/2014/main" id="{1B3B7759-E134-E531-D14E-975CF2F15590}"/>
              </a:ext>
            </a:extLst>
          </p:cNvPr>
          <p:cNvSpPr txBox="1"/>
          <p:nvPr/>
        </p:nvSpPr>
        <p:spPr>
          <a:xfrm>
            <a:off x="1749490" y="779306"/>
            <a:ext cx="10063262" cy="2462213"/>
          </a:xfrm>
          <a:prstGeom prst="rect">
            <a:avLst/>
          </a:prstGeom>
          <a:noFill/>
        </p:spPr>
        <p:txBody>
          <a:bodyPr wrap="square">
            <a:spAutoFit/>
          </a:bodyPr>
          <a:lstStyle/>
          <a:p>
            <a:pPr marL="342900" indent="-342900">
              <a:buFont typeface="Wingdings" panose="05000000000000000000" pitchFamily="2" charset="2"/>
              <a:buChar char="ü"/>
            </a:pPr>
            <a:r>
              <a:rPr lang="en-US" sz="2200">
                <a:latin typeface="Times New Roman" panose="02020603050405020304" pitchFamily="18" charset="0"/>
                <a:cs typeface="Times New Roman" panose="02020603050405020304" pitchFamily="18" charset="0"/>
              </a:rPr>
              <a:t>AI-based tools such as ChatGPT and Gemini used for conceptual understanding, report structuring, and code development support and images.</a:t>
            </a:r>
          </a:p>
          <a:p>
            <a:endParaRPr lang="en-US" sz="220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200">
                <a:latin typeface="Times New Roman" panose="02020603050405020304" pitchFamily="18" charset="0"/>
                <a:cs typeface="Times New Roman" panose="02020603050405020304" pitchFamily="18" charset="0"/>
              </a:rPr>
              <a:t>Yashavant P. Kanetkar, Let Us C, BPB Publications. </a:t>
            </a:r>
          </a:p>
          <a:p>
            <a:endParaRPr lang="en-US" sz="220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200">
                <a:latin typeface="Times New Roman" panose="02020603050405020304" pitchFamily="18" charset="0"/>
                <a:cs typeface="Times New Roman" panose="02020603050405020304" pitchFamily="18" charset="0"/>
              </a:rPr>
              <a:t> Aho, A. V., Sethi, R., and Ullman, J. D., Compilers: Principles, Techniques, and Tools, Addison-Wesle</a:t>
            </a:r>
            <a:endParaRPr lang="en-IN" sz="220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51BFC28-1842-46A9-B1DD-2836C2C52CEB}"/>
              </a:ext>
            </a:extLst>
          </p:cNvPr>
          <p:cNvSpPr/>
          <p:nvPr/>
        </p:nvSpPr>
        <p:spPr>
          <a:xfrm>
            <a:off x="-11032" y="-27384"/>
            <a:ext cx="12216680" cy="46068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3600">
              <a:solidFill>
                <a:srgbClr val="002060"/>
              </a:solidFill>
              <a:latin typeface="Berlin Sans FB Demi" panose="020E0802020502020306" pitchFamily="34" charset="0"/>
            </a:endParaRPr>
          </a:p>
        </p:txBody>
      </p:sp>
      <p:pic>
        <p:nvPicPr>
          <p:cNvPr id="7" name="Picture 6">
            <a:extLst>
              <a:ext uri="{FF2B5EF4-FFF2-40B4-BE49-F238E27FC236}">
                <a16:creationId xmlns:a16="http://schemas.microsoft.com/office/drawing/2014/main" id="{D5CA6596-F9CE-4A68-8A3E-F51E7BC5FF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9984" y="958556"/>
            <a:ext cx="3907252" cy="4940888"/>
          </a:xfrm>
          <a:prstGeom prst="rect">
            <a:avLst/>
          </a:prstGeom>
          <a:ln>
            <a:noFill/>
          </a:ln>
          <a:effectLst/>
          <a:scene3d>
            <a:camera prst="orthographicFront">
              <a:rot lat="0" lon="0" rev="0"/>
            </a:camera>
            <a:lightRig rig="chilly" dir="t">
              <a:rot lat="0" lon="0" rev="18480000"/>
            </a:lightRig>
          </a:scene3d>
          <a:sp3d prstMaterial="clear">
            <a:bevelT h="63500"/>
          </a:sp3d>
        </p:spPr>
      </p:pic>
      <p:pic>
        <p:nvPicPr>
          <p:cNvPr id="9" name="Picture 8">
            <a:extLst>
              <a:ext uri="{FF2B5EF4-FFF2-40B4-BE49-F238E27FC236}">
                <a16:creationId xmlns:a16="http://schemas.microsoft.com/office/drawing/2014/main" id="{713367DF-5078-4A1A-8949-0B38D0D8A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25548" y="6525344"/>
            <a:ext cx="407396" cy="332656"/>
          </a:xfrm>
          <a:prstGeom prst="rect">
            <a:avLst/>
          </a:prstGeom>
        </p:spPr>
      </p:pic>
      <p:sp>
        <p:nvSpPr>
          <p:cNvPr id="11" name="Rectangle 10">
            <a:extLst>
              <a:ext uri="{FF2B5EF4-FFF2-40B4-BE49-F238E27FC236}">
                <a16:creationId xmlns:a16="http://schemas.microsoft.com/office/drawing/2014/main" id="{335D2BC6-FC58-49C2-91EA-F3F032F1BF3A}"/>
              </a:ext>
            </a:extLst>
          </p:cNvPr>
          <p:cNvSpPr/>
          <p:nvPr/>
        </p:nvSpPr>
        <p:spPr>
          <a:xfrm>
            <a:off x="-11032" y="6525344"/>
            <a:ext cx="11809284" cy="33031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TW" sz="1400" b="1">
              <a:solidFill>
                <a:schemeClr val="bg1"/>
              </a:solidFill>
              <a:latin typeface="Bahnschrift" panose="020B0502040204020203" pitchFamily="34" charset="0"/>
              <a:ea typeface="新細明體" charset="-120"/>
            </a:endParaRPr>
          </a:p>
        </p:txBody>
      </p:sp>
      <p:sp>
        <p:nvSpPr>
          <p:cNvPr id="12" name="Title 1">
            <a:extLst>
              <a:ext uri="{FF2B5EF4-FFF2-40B4-BE49-F238E27FC236}">
                <a16:creationId xmlns:a16="http://schemas.microsoft.com/office/drawing/2014/main" id="{5C8D5172-2CC4-4842-BDBA-03BDDAEFA013}"/>
              </a:ext>
            </a:extLst>
          </p:cNvPr>
          <p:cNvSpPr>
            <a:spLocks noGrp="1"/>
          </p:cNvSpPr>
          <p:nvPr>
            <p:ph type="ctrTitle"/>
          </p:nvPr>
        </p:nvSpPr>
        <p:spPr>
          <a:xfrm>
            <a:off x="-11033" y="748286"/>
            <a:ext cx="12203033" cy="5566788"/>
          </a:xfrm>
        </p:spPr>
        <p:txBody>
          <a:bodyPr anchor="ctr" anchorCtr="0">
            <a:noAutofit/>
          </a:bodyPr>
          <a:lstStyle/>
          <a:p>
            <a:r>
              <a:rPr lang="en-IN" b="1">
                <a:solidFill>
                  <a:srgbClr val="00B050"/>
                </a:solidFill>
              </a:rPr>
              <a:t>Thank You</a:t>
            </a:r>
            <a:br>
              <a:rPr lang="en-IN" b="1">
                <a:solidFill>
                  <a:srgbClr val="00B050"/>
                </a:solidFill>
              </a:rPr>
            </a:br>
            <a:br>
              <a:rPr lang="en-IN" b="1">
                <a:solidFill>
                  <a:srgbClr val="00B050"/>
                </a:solidFill>
              </a:rPr>
            </a:br>
            <a:endParaRPr lang="en-IN" sz="3200" b="1">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F26AEC58-5DE3-4D0E-8378-601B8B89C65C}"/>
              </a:ext>
            </a:extLst>
          </p:cNvPr>
          <p:cNvSpPr txBox="1">
            <a:spLocks/>
          </p:cNvSpPr>
          <p:nvPr/>
        </p:nvSpPr>
        <p:spPr>
          <a:xfrm>
            <a:off x="-11032" y="6525344"/>
            <a:ext cx="11809284" cy="33031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IN" sz="3600"/>
          </a:p>
        </p:txBody>
      </p:sp>
      <p:sp>
        <p:nvSpPr>
          <p:cNvPr id="14" name="Title 1">
            <a:extLst>
              <a:ext uri="{FF2B5EF4-FFF2-40B4-BE49-F238E27FC236}">
                <a16:creationId xmlns:a16="http://schemas.microsoft.com/office/drawing/2014/main" id="{D6BFCB37-5802-46CC-B93E-2089B0DC60AA}"/>
              </a:ext>
            </a:extLst>
          </p:cNvPr>
          <p:cNvSpPr txBox="1">
            <a:spLocks/>
          </p:cNvSpPr>
          <p:nvPr/>
        </p:nvSpPr>
        <p:spPr>
          <a:xfrm>
            <a:off x="210222" y="799221"/>
            <a:ext cx="11615326" cy="5515853"/>
          </a:xfrm>
          <a:prstGeom prst="rect">
            <a:avLst/>
          </a:prstGeom>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IN" sz="3600"/>
          </a:p>
        </p:txBody>
      </p:sp>
    </p:spTree>
    <p:extLst>
      <p:ext uri="{BB962C8B-B14F-4D97-AF65-F5344CB8AC3E}">
        <p14:creationId xmlns:p14="http://schemas.microsoft.com/office/powerpoint/2010/main" val="42147697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Abstract</vt:lpstr>
      <vt:lpstr>Introduction</vt:lpstr>
      <vt:lpstr>Anagram Algorithm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Praveen Reddy</dc:creator>
  <cp:revision>56</cp:revision>
  <cp:lastPrinted>2026-05-14T15:22:02Z</cp:lastPrinted>
  <dcterms:created xsi:type="dcterms:W3CDTF">2020-08-09T13:31:45Z</dcterms:created>
  <dcterms:modified xsi:type="dcterms:W3CDTF">2026-05-14T17:53:05Z</dcterms:modified>
</cp:coreProperties>
</file>